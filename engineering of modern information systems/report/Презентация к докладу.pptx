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514" r:id="rId2"/>
    <p:sldId id="506" r:id="rId3"/>
    <p:sldId id="522" r:id="rId4"/>
    <p:sldId id="523" r:id="rId5"/>
    <p:sldId id="524" r:id="rId6"/>
    <p:sldId id="504" r:id="rId7"/>
    <p:sldId id="527" r:id="rId8"/>
    <p:sldId id="532" r:id="rId9"/>
    <p:sldId id="531" r:id="rId10"/>
    <p:sldId id="533" r:id="rId11"/>
    <p:sldId id="534" r:id="rId12"/>
    <p:sldId id="500" r:id="rId13"/>
    <p:sldId id="529" r:id="rId14"/>
    <p:sldId id="530" r:id="rId15"/>
    <p:sldId id="535" r:id="rId16"/>
    <p:sldId id="536" r:id="rId17"/>
    <p:sldId id="513" r:id="rId18"/>
  </p:sldIdLst>
  <p:sldSz cx="9144000" cy="5143500" type="screen16x9"/>
  <p:notesSz cx="6858000" cy="9144000"/>
  <p:embeddedFontLst>
    <p:embeddedFont>
      <p:font typeface="Acrom" pitchFamily="2" charset="0"/>
      <p:regular r:id="rId20"/>
    </p:embeddedFont>
    <p:embeddedFont>
      <p:font typeface="Acrom Bold" pitchFamily="2" charset="0"/>
      <p:bold r:id="rId21"/>
    </p:embeddedFont>
    <p:embeddedFont>
      <p:font typeface="Acrom ExtraBold" pitchFamily="2" charset="0"/>
      <p:bold r:id="rId22"/>
    </p:embeddedFont>
    <p:embeddedFont>
      <p:font typeface="Montserrat" pitchFamily="2" charset="0"/>
      <p:regular r:id="rId23"/>
      <p:bold r:id="rId24"/>
      <p:italic r:id="rId25"/>
      <p:boldItalic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FF3C"/>
    <a:srgbClr val="000000"/>
    <a:srgbClr val="FFFFFF"/>
    <a:srgbClr val="50852F"/>
    <a:srgbClr val="5F9E38"/>
    <a:srgbClr val="6CB640"/>
    <a:srgbClr val="00CEFE"/>
    <a:srgbClr val="5DE0FF"/>
    <a:srgbClr val="C1F3FF"/>
    <a:srgbClr val="007D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96433" autoAdjust="0"/>
  </p:normalViewPr>
  <p:slideViewPr>
    <p:cSldViewPr>
      <p:cViewPr varScale="1">
        <p:scale>
          <a:sx n="160" d="100"/>
          <a:sy n="160" d="100"/>
        </p:scale>
        <p:origin x="-1152" y="3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904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5F4C-7F3D-D167-AFAC-A4D75218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913278C-CFC7-D3FE-49AE-A2E686714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9878916-1620-EA94-737E-3F2483877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9ADBDE-83F2-FCC6-DAFC-DED3CF042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29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BACF-6DFC-A935-0D31-0486A676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7685E1-0CAB-53BF-860D-CBA13EDD1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AF79BA-9B46-0082-112E-C8E365397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A5B9F6-6442-E9D0-04A9-D2CA59A00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312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636B-8F8E-DEBB-2040-15AC7D1E2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EC9A387-9E83-7A0E-D681-E4E4CCAF1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223E59-4E23-2148-55BE-5543ACC8C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79BC47-D59E-DFEA-5CCA-8FEC3B743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449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0AC24-6861-60BA-0C20-FBE37E5A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8F295D2-ADA9-E943-DE6B-F2F354B86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504FC6-DDD5-F452-6EDB-F796AD44C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6F2952-F70F-47FD-670F-A43E145CB2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7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400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2AE1-0CEB-C09A-F5E3-AEEA133F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CF3D04-DC0C-8284-B76D-BA68AD51F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FC2513-A0C3-8958-CEB3-6C9F08F82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8B274B-3C0B-9BAE-A928-D204F44DA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8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252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DEAB-0483-E867-2245-C502BE78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548D44-2018-9106-506A-4C4B2D08B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D1696BA-A393-66E9-9CC4-7459657A7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98A0D7-5152-4F9D-6A12-9EF41861E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9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802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5A3A-1043-86AE-5A2E-781E5322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C9802D-5554-1BF0-59EE-02EF50C58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39ACFDC-1966-DC5E-317A-928443314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FADFF2-A896-E4C4-6C94-4B276FC55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10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82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9572B-FD3F-221D-67A1-BD43A35D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927B26-96F0-0A25-6B45-796B5628A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D8EE806-AA32-9BD0-A2F2-F5EEBDC04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22F59E-BC14-793E-7A81-572913DB6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11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88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8D71-7431-4983-0652-1EEB839F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B12EA7-508B-2271-0B6F-2B1346C64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45F0660-173F-A0D1-A1F8-E8A83FB49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FC0C96-E6CA-7159-3CCF-71EF61368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15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058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CB815-ED5F-B0B4-1C1E-80C13B3E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AFE550-4C28-7728-1F3E-1B6F69BB9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107F111-4079-5379-5B8D-03A0ACFDA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59D50-6900-A9BD-C211-F0527A77B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16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58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gif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27.gi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4362" y="1677263"/>
            <a:ext cx="4332104" cy="184740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262626"/>
                </a:solidFill>
                <a:latin typeface="Acrom ExtraBold" panose="00000900000000000000" pitchFamily="50" charset="-52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605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4362" y="1677263"/>
            <a:ext cx="4332104" cy="184740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262626"/>
                </a:solidFill>
                <a:latin typeface="Acrom ExtraBold" panose="00000900000000000000" pitchFamily="50" charset="-52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pic>
        <p:nvPicPr>
          <p:cNvPr id="8" name="Picture 3" descr="D:\Users\Admin\Downloads\Attachments_fill.rg@gmail.com_2016-10-19_22-56-06\star_eng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4126" y="353492"/>
            <a:ext cx="3216275" cy="3154363"/>
          </a:xfrm>
          <a:prstGeom prst="rect">
            <a:avLst/>
          </a:prstGeom>
          <a:noFill/>
        </p:spPr>
      </p:pic>
      <p:pic>
        <p:nvPicPr>
          <p:cNvPr id="9" name="Picture 2" descr="D:\Users\Admin\Downloads\Attachments_fill.rg@gmail.com_2016-10-19_22-56-06\logo_white_eng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2048" y="4227934"/>
            <a:ext cx="1224136" cy="4594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5840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,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62628"/>
            <a:ext cx="9143998" cy="88087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8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0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6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6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6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6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6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35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chemeClr val="bg1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8840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, текст,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sp>
        <p:nvSpPr>
          <p:cNvPr id="18" name="Рисунок 17"/>
          <p:cNvSpPr>
            <a:spLocks noGrp="1"/>
          </p:cNvSpPr>
          <p:nvPr>
            <p:ph type="pic" sz="quarter" idx="10"/>
          </p:nvPr>
        </p:nvSpPr>
        <p:spPr>
          <a:xfrm>
            <a:off x="4572000" y="1203325"/>
            <a:ext cx="4572000" cy="3384550"/>
          </a:xfrm>
        </p:spPr>
        <p:txBody>
          <a:bodyPr/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-1"/>
            <a:ext cx="9141292" cy="51435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16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chemeClr val="bg1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  <p:sp>
        <p:nvSpPr>
          <p:cNvPr id="19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6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6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6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6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6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" name="Текст 37"/>
          <p:cNvSpPr>
            <a:spLocks noGrp="1"/>
          </p:cNvSpPr>
          <p:nvPr>
            <p:ph type="body" sz="quarter" idx="12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72338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62628"/>
            <a:ext cx="9143998" cy="88087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35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chemeClr val="bg1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3445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-1"/>
            <a:ext cx="9141292" cy="51435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16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chemeClr val="bg1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992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3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, текст на зеленом фон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7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7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7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7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7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8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chemeClr val="bg1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  <p:sp>
        <p:nvSpPr>
          <p:cNvPr id="9" name="Текст 39"/>
          <p:cNvSpPr>
            <a:spLocks noGrp="1"/>
          </p:cNvSpPr>
          <p:nvPr>
            <p:ph type="body" sz="quarter" idx="11" hasCustomPrompt="1"/>
          </p:nvPr>
        </p:nvSpPr>
        <p:spPr>
          <a:xfrm>
            <a:off x="351237" y="4083918"/>
            <a:ext cx="2420563" cy="50408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4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4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9"/>
          <p:cNvSpPr>
            <a:spLocks noGrp="1"/>
          </p:cNvSpPr>
          <p:nvPr>
            <p:ph type="body" sz="quarter" idx="13" hasCustomPrompt="1"/>
          </p:nvPr>
        </p:nvSpPr>
        <p:spPr>
          <a:xfrm>
            <a:off x="3339569" y="4083918"/>
            <a:ext cx="2420563" cy="50408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4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4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7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8" t="1047" b="5137"/>
          <a:stretch/>
        </p:blipFill>
        <p:spPr>
          <a:xfrm>
            <a:off x="0" y="-20538"/>
            <a:ext cx="9144000" cy="51640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8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chemeClr val="bg1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  <p:sp>
        <p:nvSpPr>
          <p:cNvPr id="9" name="Текст 39"/>
          <p:cNvSpPr>
            <a:spLocks noGrp="1"/>
          </p:cNvSpPr>
          <p:nvPr>
            <p:ph type="body" sz="quarter" idx="11" hasCustomPrompt="1"/>
          </p:nvPr>
        </p:nvSpPr>
        <p:spPr>
          <a:xfrm>
            <a:off x="503636" y="3145904"/>
            <a:ext cx="2420563" cy="108012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rgbClr val="6DB53F"/>
                </a:solidFill>
                <a:latin typeface="Acrom ExtraBold" panose="00000900000000000000" pitchFamily="50" charset="-52"/>
              </a:defRPr>
            </a:lvl1pPr>
            <a:lvl2pPr marL="742950" indent="-285750">
              <a:buFontTx/>
              <a:buBlip>
                <a:blip r:embed="rId5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5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5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9"/>
          <p:cNvSpPr>
            <a:spLocks noGrp="1"/>
          </p:cNvSpPr>
          <p:nvPr>
            <p:ph type="body" sz="quarter" idx="12" hasCustomPrompt="1"/>
          </p:nvPr>
        </p:nvSpPr>
        <p:spPr>
          <a:xfrm>
            <a:off x="503637" y="4236318"/>
            <a:ext cx="2420563" cy="50408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5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5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5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2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726456" y="2269500"/>
            <a:ext cx="5073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RUSSIA</a:t>
            </a:r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, 630090, </a:t>
            </a:r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NOVOSIBIRSK</a:t>
            </a:r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, </a:t>
            </a:r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PIROGOVA  STR.</a:t>
            </a:r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9" name="Picture 2" descr="D:\Users\Admin\Downloads\Attachments_fill.rg@gmail.com_2016-10-19_22-56-06\logo_white_eng.pn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04248" y="557032"/>
            <a:ext cx="1823890" cy="6845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134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DDEC8-4D30-4DBA-9CB3-488035538497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7D379-E9FC-461B-BB9F-A1805059B1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78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9" r:id="rId5"/>
    <p:sldLayoutId id="2147483660" r:id="rId6"/>
    <p:sldLayoutId id="2147483661" r:id="rId7"/>
    <p:sldLayoutId id="2147483655" r:id="rId8"/>
    <p:sldLayoutId id="2147483656" r:id="rId9"/>
    <p:sldLayoutId id="2147483657" r:id="rId10"/>
    <p:sldLayoutId id="2147483658" r:id="rId11"/>
    <p:sldLayoutId id="214748366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e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211960" y="1648047"/>
            <a:ext cx="4732134" cy="1847405"/>
          </a:xfrm>
        </p:spPr>
        <p:txBody>
          <a:bodyPr>
            <a:noAutofit/>
          </a:bodyPr>
          <a:lstStyle/>
          <a:p>
            <a:r>
              <a:rPr lang="ru-RU" sz="2000" dirty="0"/>
              <a:t>ПРИМЕНЕНИЕ ОНТОЛОГИЧЕСКИХ МОДЕЛЕЙ И </a:t>
            </a:r>
            <a:r>
              <a:rPr lang="en-US" sz="2000" dirty="0"/>
              <a:t>GPT </a:t>
            </a:r>
            <a:r>
              <a:rPr lang="ru-RU" sz="2000" dirty="0"/>
              <a:t>ДЛЯ РАЗРАБОТКИ ЦИФРОВЫХ ДВОЙНИКОВ РЕГЛАМЕНТОВ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9C69F-CF2E-9425-CEC6-DA0F5FE51B3A}"/>
              </a:ext>
            </a:extLst>
          </p:cNvPr>
          <p:cNvSpPr txBox="1"/>
          <p:nvPr/>
        </p:nvSpPr>
        <p:spPr>
          <a:xfrm>
            <a:off x="4765286" y="3662903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Авдонина Лада Вадимовна, группа 23202</a:t>
            </a:r>
            <a:endParaRPr lang="en-US" sz="1200" dirty="0">
              <a:latin typeface="Acrom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DCD52-56E2-4F52-CA0A-FAFA9B8D05EC}"/>
              </a:ext>
            </a:extLst>
          </p:cNvPr>
          <p:cNvSpPr txBox="1"/>
          <p:nvPr/>
        </p:nvSpPr>
        <p:spPr>
          <a:xfrm>
            <a:off x="4591473" y="3939902"/>
            <a:ext cx="4919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Научный руководитель: д.ф.-м.н. Д.Е. Пальчунов</a:t>
            </a:r>
            <a:endParaRPr lang="en-US" sz="12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2195736" y="1419225"/>
            <a:ext cx="2636986" cy="383169"/>
          </a:xfrm>
        </p:spPr>
        <p:txBody>
          <a:bodyPr/>
          <a:lstStyle/>
          <a:p>
            <a:r>
              <a:rPr lang="ru-RU" dirty="0"/>
              <a:t> 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КЛЮЧЕВАЯ ИДЕЯ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C56E8B8F-D672-D09E-89DC-2C539DC44296}"/>
              </a:ext>
            </a:extLst>
          </p:cNvPr>
          <p:cNvSpPr/>
          <p:nvPr/>
        </p:nvSpPr>
        <p:spPr>
          <a:xfrm>
            <a:off x="325882" y="1397456"/>
            <a:ext cx="8638606" cy="958270"/>
          </a:xfrm>
          <a:prstGeom prst="roundRect">
            <a:avLst>
              <a:gd name="adj" fmla="val 6667"/>
            </a:avLst>
          </a:prstGeom>
          <a:solidFill>
            <a:srgbClr val="F0F7E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E1F49E6-AF68-22D4-5847-AA10C04E3004}"/>
              </a:ext>
            </a:extLst>
          </p:cNvPr>
          <p:cNvSpPr/>
          <p:nvPr/>
        </p:nvSpPr>
        <p:spPr>
          <a:xfrm>
            <a:off x="3914392" y="1557951"/>
            <a:ext cx="5019385" cy="100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latin typeface="Acrom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4DF362E-658C-F17E-5A67-E8B2355B73C9}"/>
              </a:ext>
            </a:extLst>
          </p:cNvPr>
          <p:cNvSpPr/>
          <p:nvPr/>
        </p:nvSpPr>
        <p:spPr>
          <a:xfrm>
            <a:off x="338559" y="1722686"/>
            <a:ext cx="8613251" cy="302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Цель</a:t>
            </a:r>
            <a:r>
              <a:rPr lang="ru-RU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Разработать подход и программный прототип цифрового двойника регламента, который автоматически проверяет нормативные документы (приказы о практике) на соответствие методическим рекомендациям.</a:t>
            </a:r>
            <a:endParaRPr lang="en-US" sz="1400" dirty="0">
              <a:latin typeface="Acrom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81B30-40B1-1E1B-FC15-1889A3C27BEF}"/>
              </a:ext>
            </a:extLst>
          </p:cNvPr>
          <p:cNvSpPr txBox="1"/>
          <p:nvPr/>
        </p:nvSpPr>
        <p:spPr>
          <a:xfrm>
            <a:off x="304099" y="2479943"/>
            <a:ext cx="86296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1400" b="1" dirty="0">
                <a:latin typeface="Acrom" pitchFamily="2" charset="0"/>
              </a:rPr>
              <a:t>Ключевая идея</a:t>
            </a:r>
            <a:r>
              <a:rPr lang="ru-US" sz="1400" dirty="0">
                <a:latin typeface="Acrom" pitchFamily="2" charset="0"/>
              </a:rPr>
              <a:t>: 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Традиционный текстовый регламент → исполняемая, формально проверяемая и объяснимая модель.</a:t>
            </a:r>
            <a:endParaRPr lang="en-US" sz="1400" dirty="0">
              <a:latin typeface="Acrom" pitchFamily="2" charset="0"/>
            </a:endParaRPr>
          </a:p>
          <a:p>
            <a:endParaRPr lang="ru-US" sz="1400" dirty="0">
              <a:latin typeface="Acrom" pitchFamily="2" charset="0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90B3C606-ACF1-0D3B-8D9F-734A90A5E911}"/>
              </a:ext>
            </a:extLst>
          </p:cNvPr>
          <p:cNvSpPr/>
          <p:nvPr/>
        </p:nvSpPr>
        <p:spPr>
          <a:xfrm>
            <a:off x="351237" y="3166398"/>
            <a:ext cx="2132531" cy="1152128"/>
          </a:xfrm>
          <a:prstGeom prst="roundRect">
            <a:avLst>
              <a:gd name="adj" fmla="val 3333"/>
            </a:avLst>
          </a:prstGeom>
          <a:solidFill>
            <a:srgbClr val="F7F9F5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62D93BC9-DE50-00ED-A6D4-15B8336EC505}"/>
              </a:ext>
            </a:extLst>
          </p:cNvPr>
          <p:cNvSpPr/>
          <p:nvPr/>
        </p:nvSpPr>
        <p:spPr>
          <a:xfrm>
            <a:off x="3159548" y="3166398"/>
            <a:ext cx="2208183" cy="1152128"/>
          </a:xfrm>
          <a:prstGeom prst="roundRect">
            <a:avLst>
              <a:gd name="adj" fmla="val 3333"/>
            </a:avLst>
          </a:prstGeom>
          <a:solidFill>
            <a:srgbClr val="F7F9F5"/>
          </a:solidFill>
          <a:ln/>
        </p:spPr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0EB3BC63-55BD-C323-4170-0A68CB1F151D}"/>
              </a:ext>
            </a:extLst>
          </p:cNvPr>
          <p:cNvSpPr/>
          <p:nvPr/>
        </p:nvSpPr>
        <p:spPr>
          <a:xfrm>
            <a:off x="5958852" y="3166398"/>
            <a:ext cx="2132531" cy="1152128"/>
          </a:xfrm>
          <a:prstGeom prst="roundRect">
            <a:avLst>
              <a:gd name="adj" fmla="val 3333"/>
            </a:avLst>
          </a:prstGeom>
          <a:solidFill>
            <a:srgbClr val="F7F9F5"/>
          </a:solidFill>
          <a:ln/>
        </p:spPr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0C68B4D9-9657-DEC6-B6E9-87CCB018C826}"/>
              </a:ext>
            </a:extLst>
          </p:cNvPr>
          <p:cNvSpPr/>
          <p:nvPr/>
        </p:nvSpPr>
        <p:spPr>
          <a:xfrm>
            <a:off x="351237" y="3166398"/>
            <a:ext cx="54864" cy="1152128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30C7629-FB42-3111-B279-439F1E892331}"/>
              </a:ext>
            </a:extLst>
          </p:cNvPr>
          <p:cNvSpPr/>
          <p:nvPr/>
        </p:nvSpPr>
        <p:spPr>
          <a:xfrm>
            <a:off x="3121197" y="3146997"/>
            <a:ext cx="54864" cy="1152128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77C45CA-0774-4229-1196-C28BDCFE1106}"/>
              </a:ext>
            </a:extLst>
          </p:cNvPr>
          <p:cNvSpPr/>
          <p:nvPr/>
        </p:nvSpPr>
        <p:spPr>
          <a:xfrm>
            <a:off x="5940427" y="3157170"/>
            <a:ext cx="54864" cy="1152128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2629E3-126F-B68D-32EC-6EFEDB71D5DA}"/>
              </a:ext>
            </a:extLst>
          </p:cNvPr>
          <p:cNvSpPr txBox="1"/>
          <p:nvPr/>
        </p:nvSpPr>
        <p:spPr>
          <a:xfrm>
            <a:off x="424526" y="3276202"/>
            <a:ext cx="2174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1200" b="1" dirty="0">
                <a:latin typeface="Acrom" pitchFamily="2" charset="0"/>
              </a:rPr>
              <a:t>ИВЛЕЧЕНИЕ ФАКТОВ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F36033-B80F-FD7E-9E08-C054B76601B1}"/>
              </a:ext>
            </a:extLst>
          </p:cNvPr>
          <p:cNvSpPr txBox="1"/>
          <p:nvPr/>
        </p:nvSpPr>
        <p:spPr>
          <a:xfrm>
            <a:off x="3186444" y="3276124"/>
            <a:ext cx="23320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sz="1200" b="1" dirty="0">
                <a:latin typeface="Acrom" pitchFamily="2" charset="0"/>
              </a:rPr>
              <a:t>ЛОГИЧЕСКАЯ ПРОВЕРКА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311CED-07D2-A492-5C7A-C94BCE705561}"/>
              </a:ext>
            </a:extLst>
          </p:cNvPr>
          <p:cNvSpPr txBox="1"/>
          <p:nvPr/>
        </p:nvSpPr>
        <p:spPr>
          <a:xfrm>
            <a:off x="5996853" y="327254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sz="1200" b="1" dirty="0">
                <a:latin typeface="Acrom" pitchFamily="2" charset="0"/>
              </a:rPr>
              <a:t>ОБЪЯСНИМЫЙ ОТЧЕТ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609B33-261C-5837-7525-CB62CDD6AE54}"/>
              </a:ext>
            </a:extLst>
          </p:cNvPr>
          <p:cNvSpPr txBox="1"/>
          <p:nvPr/>
        </p:nvSpPr>
        <p:spPr>
          <a:xfrm>
            <a:off x="429066" y="3553123"/>
            <a:ext cx="19826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из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реальных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документов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(PDF, DOCX,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сканы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>
              <a:latin typeface="Acrom" pitchFamily="2" charset="0"/>
            </a:endParaRPr>
          </a:p>
          <a:p>
            <a:endParaRPr lang="ru-US" sz="1100" dirty="0">
              <a:latin typeface="Acrom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EB62B9-AC77-E975-28AA-C15AF7913DD8}"/>
              </a:ext>
            </a:extLst>
          </p:cNvPr>
          <p:cNvSpPr txBox="1"/>
          <p:nvPr/>
        </p:nvSpPr>
        <p:spPr>
          <a:xfrm>
            <a:off x="3204406" y="3543984"/>
            <a:ext cx="21725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соответствия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правилам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endParaRPr lang="en-US" sz="1100" dirty="0">
              <a:latin typeface="Acrom" pitchFamily="2" charset="0"/>
            </a:endParaRPr>
          </a:p>
          <a:p>
            <a:endParaRPr lang="ru-US" sz="1100" dirty="0">
              <a:latin typeface="Acrom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1167EB-F288-8379-E23B-C443E577972E}"/>
              </a:ext>
            </a:extLst>
          </p:cNvPr>
          <p:cNvSpPr txBox="1"/>
          <p:nvPr/>
        </p:nvSpPr>
        <p:spPr>
          <a:xfrm>
            <a:off x="6021576" y="3549547"/>
            <a:ext cx="20882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указанием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нарушений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ссылками</a:t>
            </a:r>
            <a:r>
              <a:rPr lang="en-US" sz="11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11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пункты</a:t>
            </a:r>
            <a:endParaRPr lang="en-US" sz="1100" dirty="0">
              <a:latin typeface="Acrom" pitchFamily="2" charset="0"/>
            </a:endParaRPr>
          </a:p>
          <a:p>
            <a:endParaRPr lang="ru-US" sz="1100" dirty="0">
              <a:latin typeface="Acrom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D638C6-FE2B-77D4-42A0-7406DC12A661}"/>
              </a:ext>
            </a:extLst>
          </p:cNvPr>
          <p:cNvSpPr txBox="1"/>
          <p:nvPr/>
        </p:nvSpPr>
        <p:spPr>
          <a:xfrm>
            <a:off x="8242894" y="4757903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dirty="0">
                <a:latin typeface="Acrom" pitchFamily="2" charset="0"/>
              </a:rPr>
              <a:t>2</a:t>
            </a:r>
            <a:r>
              <a:rPr lang="en-US" dirty="0">
                <a:latin typeface="Acrom" pitchFamily="2" charset="0"/>
              </a:rPr>
              <a:t>/</a:t>
            </a:r>
            <a:r>
              <a:rPr lang="ru-RU" dirty="0">
                <a:latin typeface="Acrom" pitchFamily="2" charset="0"/>
              </a:rPr>
              <a:t>17</a:t>
            </a:r>
            <a:endParaRPr lang="ru-US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4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F68AB-3CB5-EC2A-6A16-F6E5696E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B0D450A-267C-6147-3B2C-AD35F6067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231257C3-AFD9-16E2-3DC9-C88AAC1896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73889-6F77-CCE3-A232-3C79E999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 КЛЮЧЕВЫЕ ТЕХНОЛОГИИ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C10C71-13C7-109B-8427-AB6CEB7ED0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86" y="1384398"/>
            <a:ext cx="862586" cy="746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17711-BDE4-0577-8AFC-71144AC061E4}"/>
              </a:ext>
            </a:extLst>
          </p:cNvPr>
          <p:cNvSpPr txBox="1"/>
          <p:nvPr/>
        </p:nvSpPr>
        <p:spPr>
          <a:xfrm>
            <a:off x="1331640" y="141922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Онтологические модели </a:t>
            </a:r>
            <a:r>
              <a:rPr lang="en-US" sz="16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(OWL 2)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21DEAE-E091-135D-B9C8-B8C379894B14}"/>
              </a:ext>
            </a:extLst>
          </p:cNvPr>
          <p:cNvSpPr txBox="1"/>
          <p:nvPr/>
        </p:nvSpPr>
        <p:spPr>
          <a:xfrm>
            <a:off x="1331640" y="1696911"/>
            <a:ext cx="7749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Строгое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однозначное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описание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понятий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предметной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области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свойств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ограничений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Формальная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семантика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позволяет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компьютеру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рассуждать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данных.</a:t>
            </a:r>
            <a:endParaRPr lang="en-US" sz="1200" dirty="0">
              <a:latin typeface="Acrom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534A40-017E-45F7-B1D7-E4D4440412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59" y="2483708"/>
            <a:ext cx="862586" cy="7467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B036DB-6CBA-69E9-0BDD-6BC550A245AC}"/>
              </a:ext>
            </a:extLst>
          </p:cNvPr>
          <p:cNvSpPr txBox="1"/>
          <p:nvPr/>
        </p:nvSpPr>
        <p:spPr>
          <a:xfrm>
            <a:off x="1331640" y="244679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Логический</a:t>
            </a:r>
            <a:r>
              <a:rPr lang="en-US" sz="16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вывод</a:t>
            </a:r>
            <a:r>
              <a:rPr lang="en-US" sz="16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(HermiT)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87D688-C599-CBF6-597F-65CEFDD65332}"/>
              </a:ext>
            </a:extLst>
          </p:cNvPr>
          <p:cNvSpPr txBox="1"/>
          <p:nvPr/>
        </p:nvSpPr>
        <p:spPr>
          <a:xfrm>
            <a:off x="1331639" y="2750410"/>
            <a:ext cx="7499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Автоматическая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проверка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согласованности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классификация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объектов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обнаружение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нарушений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Acrom" pitchFamily="2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7C2853D-1947-89C5-93C9-8EB7762EB6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86" y="3583018"/>
            <a:ext cx="862586" cy="7467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401AFD-B11E-83FE-A0FF-B2DF37A2487D}"/>
              </a:ext>
            </a:extLst>
          </p:cNvPr>
          <p:cNvSpPr txBox="1"/>
          <p:nvPr/>
        </p:nvSpPr>
        <p:spPr>
          <a:xfrm>
            <a:off x="1331640" y="351568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Большие</a:t>
            </a:r>
            <a:r>
              <a:rPr lang="en-US" sz="16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языковые</a:t>
            </a:r>
            <a:r>
              <a:rPr lang="en-US" sz="16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6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(GPT)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FB85AB-43DD-13E3-6185-9F4BBDA840A4}"/>
              </a:ext>
            </a:extLst>
          </p:cNvPr>
          <p:cNvSpPr txBox="1"/>
          <p:nvPr/>
        </p:nvSpPr>
        <p:spPr>
          <a:xfrm>
            <a:off x="1336385" y="3854240"/>
            <a:ext cx="74452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Извлечение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знаний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из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текста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структурированных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фактов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из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проверяемых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документов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Снижают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трудоёмкость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формализации</a:t>
            </a:r>
            <a:r>
              <a:rPr lang="en-US" sz="12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Acrom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B7FCCF-E438-B7AD-6187-D37BDCFFCA7D}"/>
              </a:ext>
            </a:extLst>
          </p:cNvPr>
          <p:cNvSpPr txBox="1"/>
          <p:nvPr/>
        </p:nvSpPr>
        <p:spPr>
          <a:xfrm>
            <a:off x="8244408" y="47579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3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3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144A-44FB-E6EE-19E3-D287E96A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8766AFD-B1C8-731C-FF2D-BB341CE47B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3F8D262F-BFB5-6633-A0CE-401116CAF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008EF-C1DB-625B-933E-68A19975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01DCC-B12C-4740-47E8-0D4855B001B7}"/>
              </a:ext>
            </a:extLst>
          </p:cNvPr>
          <p:cNvSpPr txBox="1"/>
          <p:nvPr/>
        </p:nvSpPr>
        <p:spPr>
          <a:xfrm>
            <a:off x="350838" y="1294562"/>
            <a:ext cx="86856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вузах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большой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объём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нормативных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документов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проверяется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вручную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Пример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приказы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направлении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студентов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практику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>
              <a:latin typeface="Acrom" pitchFamily="2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27782DC-44B3-F954-1B5F-79094B389FFF}"/>
              </a:ext>
            </a:extLst>
          </p:cNvPr>
          <p:cNvSpPr/>
          <p:nvPr/>
        </p:nvSpPr>
        <p:spPr>
          <a:xfrm>
            <a:off x="4407335" y="1923678"/>
            <a:ext cx="3312368" cy="1152128"/>
          </a:xfrm>
          <a:prstGeom prst="roundRect">
            <a:avLst>
              <a:gd name="adj" fmla="val 3333"/>
            </a:avLst>
          </a:prstGeom>
          <a:solidFill>
            <a:srgbClr val="F7F9F5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828AF87-7073-FC9C-B396-0FAED0CBB0E4}"/>
              </a:ext>
            </a:extLst>
          </p:cNvPr>
          <p:cNvSpPr/>
          <p:nvPr/>
        </p:nvSpPr>
        <p:spPr>
          <a:xfrm>
            <a:off x="4407335" y="3219822"/>
            <a:ext cx="3312368" cy="1152128"/>
          </a:xfrm>
          <a:prstGeom prst="roundRect">
            <a:avLst>
              <a:gd name="adj" fmla="val 3333"/>
            </a:avLst>
          </a:prstGeom>
          <a:solidFill>
            <a:srgbClr val="F7F9F5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B406C20-5CB4-23AB-0E0D-48A12444C1EB}"/>
              </a:ext>
            </a:extLst>
          </p:cNvPr>
          <p:cNvSpPr/>
          <p:nvPr/>
        </p:nvSpPr>
        <p:spPr>
          <a:xfrm>
            <a:off x="434967" y="1923678"/>
            <a:ext cx="3312368" cy="1152128"/>
          </a:xfrm>
          <a:prstGeom prst="roundRect">
            <a:avLst>
              <a:gd name="adj" fmla="val 3333"/>
            </a:avLst>
          </a:prstGeom>
          <a:solidFill>
            <a:srgbClr val="F7F9F5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0E560B8B-7AE5-C709-12A8-831590989F2B}"/>
              </a:ext>
            </a:extLst>
          </p:cNvPr>
          <p:cNvSpPr/>
          <p:nvPr/>
        </p:nvSpPr>
        <p:spPr>
          <a:xfrm>
            <a:off x="434967" y="3219822"/>
            <a:ext cx="3312368" cy="1152128"/>
          </a:xfrm>
          <a:prstGeom prst="roundRect">
            <a:avLst>
              <a:gd name="adj" fmla="val 3333"/>
            </a:avLst>
          </a:prstGeom>
          <a:solidFill>
            <a:srgbClr val="F7F9F5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5BC64BCB-2097-17F1-40C5-B236F23F2728}"/>
              </a:ext>
            </a:extLst>
          </p:cNvPr>
          <p:cNvSpPr/>
          <p:nvPr/>
        </p:nvSpPr>
        <p:spPr>
          <a:xfrm>
            <a:off x="457684" y="1946410"/>
            <a:ext cx="81868" cy="1129396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98A68C6A-1B68-F1F7-154C-F3246051A90A}"/>
              </a:ext>
            </a:extLst>
          </p:cNvPr>
          <p:cNvSpPr/>
          <p:nvPr/>
        </p:nvSpPr>
        <p:spPr>
          <a:xfrm>
            <a:off x="425188" y="3219822"/>
            <a:ext cx="81868" cy="1129396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0FF8D9B5-5547-6614-4BBB-EF29E67AA31B}"/>
              </a:ext>
            </a:extLst>
          </p:cNvPr>
          <p:cNvSpPr/>
          <p:nvPr/>
        </p:nvSpPr>
        <p:spPr>
          <a:xfrm>
            <a:off x="4407335" y="1935044"/>
            <a:ext cx="81868" cy="1129396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29E8291B-F4E0-1AE5-F9F4-D8699DA1FC50}"/>
              </a:ext>
            </a:extLst>
          </p:cNvPr>
          <p:cNvSpPr/>
          <p:nvPr/>
        </p:nvSpPr>
        <p:spPr>
          <a:xfrm>
            <a:off x="4407335" y="3231188"/>
            <a:ext cx="81868" cy="1129396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8569B-3209-73E6-F5D6-EAB3D1DAE4DA}"/>
              </a:ext>
            </a:extLst>
          </p:cNvPr>
          <p:cNvSpPr txBox="1"/>
          <p:nvPr/>
        </p:nvSpPr>
        <p:spPr>
          <a:xfrm>
            <a:off x="991356" y="204322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5F9E38"/>
                </a:solidFill>
                <a:latin typeface="Acrom" pitchFamily="2" charset="0"/>
                <a:cs typeface="Calibri" pitchFamily="34" charset="-120"/>
              </a:rPr>
              <a:t>ТРУДОЕМКОСТЬ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D7CCB5-D44C-6D21-E914-EC170B023174}"/>
              </a:ext>
            </a:extLst>
          </p:cNvPr>
          <p:cNvSpPr txBox="1"/>
          <p:nvPr/>
        </p:nvSpPr>
        <p:spPr>
          <a:xfrm>
            <a:off x="971600" y="329414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5F9E38"/>
                </a:solidFill>
                <a:latin typeface="Acrom" pitchFamily="2" charset="0"/>
                <a:cs typeface="Calibri" pitchFamily="34" charset="-120"/>
              </a:rPr>
              <a:t>СУБЪЕКТИВНОСТЬ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FE814E-9730-C0C0-B60D-4AF7102D2440}"/>
              </a:ext>
            </a:extLst>
          </p:cNvPr>
          <p:cNvSpPr txBox="1"/>
          <p:nvPr/>
        </p:nvSpPr>
        <p:spPr>
          <a:xfrm>
            <a:off x="4572000" y="20263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5F9E38"/>
                </a:solidFill>
                <a:latin typeface="Acrom" pitchFamily="2" charset="0"/>
                <a:cs typeface="Calibri" pitchFamily="34" charset="-120"/>
              </a:rPr>
              <a:t>ЧЕЛОВЕЧЕСКИЙ ФАКТОР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864DE-5986-2098-1284-2FD2D53CCC89}"/>
              </a:ext>
            </a:extLst>
          </p:cNvPr>
          <p:cNvSpPr txBox="1"/>
          <p:nvPr/>
        </p:nvSpPr>
        <p:spPr>
          <a:xfrm>
            <a:off x="5004048" y="32772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5F9E38"/>
                </a:solidFill>
                <a:latin typeface="Acrom" pitchFamily="2" charset="0"/>
                <a:cs typeface="Calibri" pitchFamily="34" charset="-120"/>
              </a:rPr>
              <a:t>АКТУАЛИЗАЦИЯ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D82728-5D58-CFFC-B48D-CD6FA9D3E809}"/>
              </a:ext>
            </a:extLst>
          </p:cNvPr>
          <p:cNvSpPr txBox="1"/>
          <p:nvPr/>
        </p:nvSpPr>
        <p:spPr>
          <a:xfrm>
            <a:off x="770730" y="2381779"/>
            <a:ext cx="30180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15–60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минут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приказ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Сотни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студентов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факультете</a:t>
            </a:r>
            <a:endParaRPr lang="en-US" sz="1200" dirty="0">
              <a:latin typeface="Acrom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DFED97-E0FC-425A-FEEF-914A7B8A80A1}"/>
              </a:ext>
            </a:extLst>
          </p:cNvPr>
          <p:cNvSpPr txBox="1"/>
          <p:nvPr/>
        </p:nvSpPr>
        <p:spPr>
          <a:xfrm>
            <a:off x="4711110" y="2412472"/>
            <a:ext cx="29386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Пропущенные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поля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ошибки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датах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дубли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номеров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зачёток</a:t>
            </a:r>
            <a:endParaRPr lang="en-US" sz="1200" dirty="0">
              <a:latin typeface="Acrom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FBECBF-F050-C940-6D89-1FD468A21CED}"/>
              </a:ext>
            </a:extLst>
          </p:cNvPr>
          <p:cNvSpPr txBox="1"/>
          <p:nvPr/>
        </p:nvSpPr>
        <p:spPr>
          <a:xfrm>
            <a:off x="777947" y="3606836"/>
            <a:ext cx="2666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Разные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сотрудники по-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разному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трактуют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формулировки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Acrom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3EA878-26C2-40C3-EC75-49AD994F8A10}"/>
              </a:ext>
            </a:extLst>
          </p:cNvPr>
          <p:cNvSpPr txBox="1"/>
          <p:nvPr/>
        </p:nvSpPr>
        <p:spPr>
          <a:xfrm>
            <a:off x="4714680" y="3615834"/>
            <a:ext cx="3015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изменении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рекомендаций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нужно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заново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обучать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всех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исполнителей</a:t>
            </a:r>
            <a:r>
              <a:rPr lang="en-US" sz="12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Acrom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584625-1F4B-CF3A-6975-828BD769187E}"/>
              </a:ext>
            </a:extLst>
          </p:cNvPr>
          <p:cNvSpPr txBox="1"/>
          <p:nvPr/>
        </p:nvSpPr>
        <p:spPr>
          <a:xfrm>
            <a:off x="8244408" y="4757903"/>
            <a:ext cx="479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4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22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9889-43EF-BB72-709F-6E96414F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D6DF3A1-1D03-3AB6-2ED7-83B42CD2F5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94A56F41-6364-6AB3-1F48-B6EDFD9FC5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7E65C-EE2E-EE31-168E-81ACDA48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 И ТРЕНДЫ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E21D4-ED31-DF9D-585A-786E550883D3}"/>
              </a:ext>
            </a:extLst>
          </p:cNvPr>
          <p:cNvSpPr txBox="1"/>
          <p:nvPr/>
        </p:nvSpPr>
        <p:spPr>
          <a:xfrm>
            <a:off x="323528" y="1257642"/>
            <a:ext cx="55983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Тема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находится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пересечении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трёх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тенденций</a:t>
            </a:r>
            <a:r>
              <a:rPr lang="en-US" sz="15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>
              <a:latin typeface="Acrom" pitchFamily="2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D345336-E253-A357-F3B5-69B42E99FD0F}"/>
              </a:ext>
            </a:extLst>
          </p:cNvPr>
          <p:cNvSpPr/>
          <p:nvPr/>
        </p:nvSpPr>
        <p:spPr>
          <a:xfrm>
            <a:off x="350838" y="1742299"/>
            <a:ext cx="404738" cy="383168"/>
          </a:xfrm>
          <a:prstGeom prst="ellipse">
            <a:avLst/>
          </a:prstGeom>
          <a:solidFill>
            <a:srgbClr val="6CB640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65C50-0274-34A9-C1BA-9D4CCEF962A3}"/>
              </a:ext>
            </a:extLst>
          </p:cNvPr>
          <p:cNvSpPr txBox="1"/>
          <p:nvPr/>
        </p:nvSpPr>
        <p:spPr>
          <a:xfrm>
            <a:off x="419196" y="1749217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dirty="0">
                <a:solidFill>
                  <a:schemeClr val="bg1"/>
                </a:solidFill>
                <a:latin typeface="Montserrat" pitchFamily="2" charset="0"/>
              </a:rPr>
              <a:t>1</a:t>
            </a: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F519A5DC-82EF-3829-FBDC-B504CC37BF5F}"/>
              </a:ext>
            </a:extLst>
          </p:cNvPr>
          <p:cNvSpPr/>
          <p:nvPr/>
        </p:nvSpPr>
        <p:spPr>
          <a:xfrm>
            <a:off x="350838" y="2499742"/>
            <a:ext cx="404738" cy="383168"/>
          </a:xfrm>
          <a:prstGeom prst="ellipse">
            <a:avLst/>
          </a:prstGeom>
          <a:solidFill>
            <a:srgbClr val="6CB640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238F72-C5C2-C94C-FB8C-9BBC40EF3A0E}"/>
              </a:ext>
            </a:extLst>
          </p:cNvPr>
          <p:cNvSpPr txBox="1"/>
          <p:nvPr/>
        </p:nvSpPr>
        <p:spPr>
          <a:xfrm>
            <a:off x="475315" y="2506660"/>
            <a:ext cx="6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dirty="0">
                <a:solidFill>
                  <a:schemeClr val="bg1"/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D2BB2642-1401-B262-ED66-9A05BEFC2741}"/>
              </a:ext>
            </a:extLst>
          </p:cNvPr>
          <p:cNvSpPr/>
          <p:nvPr/>
        </p:nvSpPr>
        <p:spPr>
          <a:xfrm>
            <a:off x="350838" y="3232347"/>
            <a:ext cx="404738" cy="383168"/>
          </a:xfrm>
          <a:prstGeom prst="ellipse">
            <a:avLst/>
          </a:prstGeom>
          <a:solidFill>
            <a:srgbClr val="6CB640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A3127A-CC03-DC7F-2DC2-A2E5813BF1B0}"/>
              </a:ext>
            </a:extLst>
          </p:cNvPr>
          <p:cNvSpPr txBox="1"/>
          <p:nvPr/>
        </p:nvSpPr>
        <p:spPr>
          <a:xfrm>
            <a:off x="419196" y="323926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A0935D-9C86-5381-550F-B6E750BE7E79}"/>
              </a:ext>
            </a:extLst>
          </p:cNvPr>
          <p:cNvSpPr txBox="1"/>
          <p:nvPr/>
        </p:nvSpPr>
        <p:spPr>
          <a:xfrm>
            <a:off x="766488" y="1718354"/>
            <a:ext cx="4339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1400" b="1" dirty="0">
                <a:latin typeface="Acrom" pitchFamily="2" charset="0"/>
              </a:rPr>
              <a:t>Цифровизация образования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9091D-4320-218F-4C8E-CE5EA20AD5FE}"/>
              </a:ext>
            </a:extLst>
          </p:cNvPr>
          <p:cNvSpPr txBox="1"/>
          <p:nvPr/>
        </p:nvSpPr>
        <p:spPr>
          <a:xfrm>
            <a:off x="776062" y="1944911"/>
            <a:ext cx="6288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Автоматизация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нормативного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контроля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снижение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операционных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рисков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8F83FE-EE65-0449-46B5-A76C2119B1ED}"/>
              </a:ext>
            </a:extLst>
          </p:cNvPr>
          <p:cNvSpPr txBox="1"/>
          <p:nvPr/>
        </p:nvSpPr>
        <p:spPr>
          <a:xfrm>
            <a:off x="749368" y="2417861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400" b="1" dirty="0">
                <a:latin typeface="Acrom" pitchFamily="2" charset="0"/>
              </a:rPr>
              <a:t>Семантические технологии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49D475-4BC5-2155-B94D-CFD60149CA6D}"/>
              </a:ext>
            </a:extLst>
          </p:cNvPr>
          <p:cNvSpPr txBox="1"/>
          <p:nvPr/>
        </p:nvSpPr>
        <p:spPr>
          <a:xfrm>
            <a:off x="766488" y="2655703"/>
            <a:ext cx="5729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Онтологический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инжиниринг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формальное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представление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знаний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D40BB4-4862-C035-B734-1C54BADBAAD0}"/>
              </a:ext>
            </a:extLst>
          </p:cNvPr>
          <p:cNvSpPr txBox="1"/>
          <p:nvPr/>
        </p:nvSpPr>
        <p:spPr>
          <a:xfrm>
            <a:off x="773412" y="3177145"/>
            <a:ext cx="2829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400" b="1" dirty="0">
                <a:latin typeface="Acrom" pitchFamily="2" charset="0"/>
              </a:rPr>
              <a:t>Большие языковые модели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FDF5B4-5651-7473-A617-8C5D854ED84D}"/>
              </a:ext>
            </a:extLst>
          </p:cNvPr>
          <p:cNvSpPr txBox="1"/>
          <p:nvPr/>
        </p:nvSpPr>
        <p:spPr>
          <a:xfrm>
            <a:off x="773412" y="3403453"/>
            <a:ext cx="5625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Резкое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снижение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барьера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формализации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текстовых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регламентов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A0FCC724-4005-C790-4BAA-509CB4414BFB}"/>
              </a:ext>
            </a:extLst>
          </p:cNvPr>
          <p:cNvSpPr/>
          <p:nvPr/>
        </p:nvSpPr>
        <p:spPr>
          <a:xfrm>
            <a:off x="362383" y="3834358"/>
            <a:ext cx="7666002" cy="530685"/>
          </a:xfrm>
          <a:prstGeom prst="roundRect">
            <a:avLst>
              <a:gd name="adj" fmla="val 6667"/>
            </a:avLst>
          </a:prstGeom>
          <a:solidFill>
            <a:srgbClr val="F0F7E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72670-7BA5-1DDD-850E-F55D3EFCBD5B}"/>
              </a:ext>
            </a:extLst>
          </p:cNvPr>
          <p:cNvSpPr txBox="1"/>
          <p:nvPr/>
        </p:nvSpPr>
        <p:spPr>
          <a:xfrm>
            <a:off x="419195" y="3841823"/>
            <a:ext cx="7609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Рынок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цифровых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двойников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(Gartner):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десятков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$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середине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2020-х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сотен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$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середине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2030-х.</a:t>
            </a:r>
            <a:endParaRPr lang="en-US" sz="1400" dirty="0">
              <a:latin typeface="Acrom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A29315-5C00-011D-6C45-0B31C1BA7CE1}"/>
              </a:ext>
            </a:extLst>
          </p:cNvPr>
          <p:cNvSpPr txBox="1"/>
          <p:nvPr/>
        </p:nvSpPr>
        <p:spPr>
          <a:xfrm>
            <a:off x="8244408" y="47579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5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9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Группа 14"/>
          <p:cNvGrpSpPr/>
          <p:nvPr/>
        </p:nvGrpSpPr>
        <p:grpSpPr>
          <a:xfrm>
            <a:off x="136837" y="1269511"/>
            <a:ext cx="892898" cy="970515"/>
            <a:chOff x="323528" y="3272631"/>
            <a:chExt cx="892898" cy="1015663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23528" y="3272631"/>
              <a:ext cx="55656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1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744474" y="1901892"/>
            <a:ext cx="859538" cy="1060811"/>
            <a:chOff x="277943" y="3227483"/>
            <a:chExt cx="859538" cy="1060811"/>
          </a:xfrm>
        </p:grpSpPr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943" y="3227483"/>
              <a:ext cx="859538" cy="746762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370120" y="3272631"/>
              <a:ext cx="67518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2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117653" y="2603278"/>
            <a:ext cx="892898" cy="1015663"/>
            <a:chOff x="323528" y="3272631"/>
            <a:chExt cx="892898" cy="1015663"/>
          </a:xfrm>
        </p:grpSpPr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23528" y="3272631"/>
              <a:ext cx="68800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3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756658" y="3190210"/>
            <a:ext cx="875426" cy="1015663"/>
            <a:chOff x="341000" y="3272631"/>
            <a:chExt cx="875426" cy="1015663"/>
          </a:xfrm>
        </p:grpSpPr>
        <p:pic>
          <p:nvPicPr>
            <p:cNvPr id="23" name="Рисунок 2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41000" y="3272631"/>
              <a:ext cx="66717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4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136837" y="3764140"/>
            <a:ext cx="859538" cy="1015663"/>
            <a:chOff x="318383" y="3272631"/>
            <a:chExt cx="859538" cy="1015663"/>
          </a:xfrm>
        </p:grpSpPr>
        <p:pic>
          <p:nvPicPr>
            <p:cNvPr id="26" name="Рисунок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83" y="3327197"/>
              <a:ext cx="859538" cy="746762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52648" y="3272631"/>
              <a:ext cx="68480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5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617901" y="3138579"/>
            <a:ext cx="1847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6000" dirty="0">
              <a:solidFill>
                <a:srgbClr val="6BB540"/>
              </a:solidFill>
              <a:latin typeface="Acrom ExtraBold" pitchFamily="50" charset="-52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51238" y="578032"/>
            <a:ext cx="7029074" cy="646331"/>
          </a:xfrm>
        </p:spPr>
        <p:txBody>
          <a:bodyPr/>
          <a:lstStyle/>
          <a:p>
            <a:r>
              <a:rPr lang="ru-RU" dirty="0"/>
              <a:t>ПОЧЕМУ ЦИФРОВОЙ ДВОЙНИК РЕГЛАМЕНТА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0E3D7-AB1B-2D3E-98EC-8C84112458BA}"/>
              </a:ext>
            </a:extLst>
          </p:cNvPr>
          <p:cNvSpPr txBox="1"/>
          <p:nvPr/>
        </p:nvSpPr>
        <p:spPr>
          <a:xfrm>
            <a:off x="1111338" y="1400910"/>
            <a:ext cx="7348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Превращает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требования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машиночитаемую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онтологию</a:t>
            </a:r>
            <a:endParaRPr lang="en-US" sz="1400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A24D5-2426-8B24-BE95-03C654E1741D}"/>
              </a:ext>
            </a:extLst>
          </p:cNvPr>
          <p:cNvSpPr txBox="1"/>
          <p:nvPr/>
        </p:nvSpPr>
        <p:spPr>
          <a:xfrm>
            <a:off x="1657155" y="2036174"/>
            <a:ext cx="5869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Автоматически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извлекает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факты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из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приказа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том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числе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из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скана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BC69A-5848-9B1A-2795-5D09BADB68BF}"/>
              </a:ext>
            </a:extLst>
          </p:cNvPr>
          <p:cNvSpPr txBox="1"/>
          <p:nvPr/>
        </p:nvSpPr>
        <p:spPr>
          <a:xfrm>
            <a:off x="1090243" y="2808814"/>
            <a:ext cx="6307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Проверяет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факты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логическим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ризонером и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правилами</a:t>
            </a:r>
            <a:endParaRPr lang="en-US" sz="1400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307A0-2B90-32F7-B93C-17053D01509F}"/>
              </a:ext>
            </a:extLst>
          </p:cNvPr>
          <p:cNvSpPr txBox="1"/>
          <p:nvPr/>
        </p:nvSpPr>
        <p:spPr>
          <a:xfrm>
            <a:off x="1668683" y="3410102"/>
            <a:ext cx="6133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Выдаёт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отчёт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ссылками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конкретные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пункты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endParaRPr lang="en-US" sz="1400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14604-3282-EFEF-75E8-A60C49FB965E}"/>
              </a:ext>
            </a:extLst>
          </p:cNvPr>
          <p:cNvSpPr txBox="1"/>
          <p:nvPr/>
        </p:nvSpPr>
        <p:spPr>
          <a:xfrm>
            <a:off x="1105618" y="4080421"/>
            <a:ext cx="6697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Позволяет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обновлять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правила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изменения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программного</a:t>
            </a:r>
            <a:r>
              <a:rPr lang="en-US" sz="1400" dirty="0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кода</a:t>
            </a:r>
            <a:endParaRPr lang="en-US" sz="1400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F6667A-020F-2F1A-E016-07B78598C9C4}"/>
              </a:ext>
            </a:extLst>
          </p:cNvPr>
          <p:cNvSpPr txBox="1"/>
          <p:nvPr/>
        </p:nvSpPr>
        <p:spPr>
          <a:xfrm>
            <a:off x="8244408" y="4752900"/>
            <a:ext cx="4699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solidFill>
                  <a:schemeClr val="bg1"/>
                </a:solidFill>
                <a:latin typeface="Acrom" pitchFamily="2" charset="0"/>
              </a:rPr>
              <a:t>6</a:t>
            </a:r>
            <a:r>
              <a:rPr lang="en-US" sz="1800" dirty="0">
                <a:solidFill>
                  <a:schemeClr val="bg1"/>
                </a:solidFill>
                <a:latin typeface="Acrom" pitchFamily="2" charset="0"/>
              </a:rPr>
              <a:t>/</a:t>
            </a:r>
            <a:r>
              <a:rPr lang="ru-RU" sz="1800" dirty="0">
                <a:solidFill>
                  <a:schemeClr val="bg1"/>
                </a:solidFill>
                <a:latin typeface="Acrom" pitchFamily="2" charset="0"/>
              </a:rPr>
              <a:t>17</a:t>
            </a:r>
            <a:endParaRPr lang="ru-US" sz="1800" dirty="0">
              <a:solidFill>
                <a:schemeClr val="bg1"/>
              </a:solidFill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770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CF483-BD43-E15E-512D-FFEE267B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E895773-270D-C991-1392-96A07761D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1BFA6F50-8188-8DBC-F523-AAF8AFB2D4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D0E85F-E893-1A0D-0492-CCF0565A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ФУНДАМЕНТ</a:t>
            </a: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782E39A5-EC78-02C7-DFF1-E17E81A57204}"/>
              </a:ext>
            </a:extLst>
          </p:cNvPr>
          <p:cNvSpPr/>
          <p:nvPr/>
        </p:nvSpPr>
        <p:spPr>
          <a:xfrm>
            <a:off x="105740" y="1286190"/>
            <a:ext cx="8932520" cy="649238"/>
          </a:xfrm>
          <a:prstGeom prst="roundRect">
            <a:avLst>
              <a:gd name="adj" fmla="val 6667"/>
            </a:avLst>
          </a:prstGeom>
          <a:solidFill>
            <a:srgbClr val="F7F9F5"/>
          </a:solidFill>
          <a:ln/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2F0D6098-E016-3E6D-8C2C-CDEAD8733FD1}"/>
              </a:ext>
            </a:extLst>
          </p:cNvPr>
          <p:cNvSpPr/>
          <p:nvPr/>
        </p:nvSpPr>
        <p:spPr>
          <a:xfrm>
            <a:off x="74746" y="2010585"/>
            <a:ext cx="8932520" cy="649238"/>
          </a:xfrm>
          <a:prstGeom prst="roundRect">
            <a:avLst>
              <a:gd name="adj" fmla="val 6667"/>
            </a:avLst>
          </a:prstGeom>
          <a:solidFill>
            <a:srgbClr val="F7F9F5"/>
          </a:solidFill>
          <a:ln/>
        </p:spPr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9CA9944F-A45C-6292-68D1-377E312840CB}"/>
              </a:ext>
            </a:extLst>
          </p:cNvPr>
          <p:cNvSpPr/>
          <p:nvPr/>
        </p:nvSpPr>
        <p:spPr>
          <a:xfrm>
            <a:off x="105740" y="2753951"/>
            <a:ext cx="8932520" cy="649238"/>
          </a:xfrm>
          <a:prstGeom prst="roundRect">
            <a:avLst>
              <a:gd name="adj" fmla="val 6667"/>
            </a:avLst>
          </a:prstGeom>
          <a:solidFill>
            <a:srgbClr val="F7F9F5"/>
          </a:solidFill>
          <a:ln/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9027858E-712A-64A0-5851-3E7AF014746D}"/>
              </a:ext>
            </a:extLst>
          </p:cNvPr>
          <p:cNvSpPr/>
          <p:nvPr/>
        </p:nvSpPr>
        <p:spPr>
          <a:xfrm>
            <a:off x="105740" y="3507854"/>
            <a:ext cx="8932520" cy="649238"/>
          </a:xfrm>
          <a:prstGeom prst="roundRect">
            <a:avLst>
              <a:gd name="adj" fmla="val 6667"/>
            </a:avLst>
          </a:prstGeom>
          <a:solidFill>
            <a:srgbClr val="F7F9F5"/>
          </a:solidFill>
          <a:ln/>
        </p:spPr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6247B380-660A-1E2B-6BCD-5923913DD4B8}"/>
              </a:ext>
            </a:extLst>
          </p:cNvPr>
          <p:cNvSpPr/>
          <p:nvPr/>
        </p:nvSpPr>
        <p:spPr>
          <a:xfrm>
            <a:off x="117017" y="1321031"/>
            <a:ext cx="1431094" cy="579555"/>
          </a:xfrm>
          <a:prstGeom prst="roundRect">
            <a:avLst>
              <a:gd name="adj" fmla="val 8571"/>
            </a:avLst>
          </a:prstGeom>
          <a:solidFill>
            <a:srgbClr val="6CB640"/>
          </a:solidFill>
          <a:ln/>
        </p:spPr>
        <p:txBody>
          <a:bodyPr/>
          <a:lstStyle/>
          <a:p>
            <a:endParaRPr lang="ru-US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E107D1DB-CDE7-7C42-8240-880F0257EC38}"/>
              </a:ext>
            </a:extLst>
          </p:cNvPr>
          <p:cNvSpPr/>
          <p:nvPr/>
        </p:nvSpPr>
        <p:spPr>
          <a:xfrm>
            <a:off x="100222" y="2029556"/>
            <a:ext cx="1431094" cy="579555"/>
          </a:xfrm>
          <a:prstGeom prst="roundRect">
            <a:avLst>
              <a:gd name="adj" fmla="val 8571"/>
            </a:avLst>
          </a:prstGeom>
          <a:solidFill>
            <a:srgbClr val="6CB640"/>
          </a:solidFill>
          <a:ln/>
        </p:spPr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AD4E677D-2932-A975-1109-35328C2D814C}"/>
              </a:ext>
            </a:extLst>
          </p:cNvPr>
          <p:cNvSpPr/>
          <p:nvPr/>
        </p:nvSpPr>
        <p:spPr>
          <a:xfrm>
            <a:off x="117017" y="2764488"/>
            <a:ext cx="1431094" cy="579555"/>
          </a:xfrm>
          <a:prstGeom prst="roundRect">
            <a:avLst>
              <a:gd name="adj" fmla="val 8571"/>
            </a:avLst>
          </a:prstGeom>
          <a:solidFill>
            <a:srgbClr val="6CB640"/>
          </a:solidFill>
          <a:ln/>
        </p:spPr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C5C7C945-C072-715A-DEB4-BA4C913FECF9}"/>
              </a:ext>
            </a:extLst>
          </p:cNvPr>
          <p:cNvSpPr/>
          <p:nvPr/>
        </p:nvSpPr>
        <p:spPr>
          <a:xfrm>
            <a:off x="100222" y="3543855"/>
            <a:ext cx="1431094" cy="579555"/>
          </a:xfrm>
          <a:prstGeom prst="roundRect">
            <a:avLst>
              <a:gd name="adj" fmla="val 8571"/>
            </a:avLst>
          </a:prstGeom>
          <a:solidFill>
            <a:srgbClr val="6CB640"/>
          </a:solidFill>
          <a:ln/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2F5610-12F6-1921-88A6-32DACC6BEA4E}"/>
              </a:ext>
            </a:extLst>
          </p:cNvPr>
          <p:cNvSpPr txBox="1"/>
          <p:nvPr/>
        </p:nvSpPr>
        <p:spPr>
          <a:xfrm>
            <a:off x="413254" y="1422132"/>
            <a:ext cx="805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crom" pitchFamily="2" charset="0"/>
              </a:rPr>
              <a:t>OWL</a:t>
            </a:r>
            <a:endParaRPr lang="ru-US" b="1" dirty="0">
              <a:solidFill>
                <a:schemeClr val="bg1"/>
              </a:solidFill>
              <a:latin typeface="Acrom" pitchFamily="2" charset="0"/>
            </a:endParaRPr>
          </a:p>
          <a:p>
            <a:endParaRPr lang="ru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8AD8B8-E668-F610-4790-290B14BA3FC2}"/>
              </a:ext>
            </a:extLst>
          </p:cNvPr>
          <p:cNvSpPr txBox="1"/>
          <p:nvPr/>
        </p:nvSpPr>
        <p:spPr>
          <a:xfrm>
            <a:off x="161547" y="2130242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rom" pitchFamily="2" charset="0"/>
              </a:rPr>
              <a:t>ПРАВИЛА</a:t>
            </a:r>
            <a:endParaRPr lang="ru-US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0FE01F-45D2-EE8D-6BEC-C77011F4F383}"/>
              </a:ext>
            </a:extLst>
          </p:cNvPr>
          <p:cNvSpPr txBox="1"/>
          <p:nvPr/>
        </p:nvSpPr>
        <p:spPr>
          <a:xfrm>
            <a:off x="258564" y="2878764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crom" pitchFamily="2" charset="0"/>
              </a:rPr>
              <a:t>HERMIT</a:t>
            </a:r>
            <a:endParaRPr lang="ru-US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F7EADF-4194-0737-C6B1-FB1327AE8992}"/>
              </a:ext>
            </a:extLst>
          </p:cNvPr>
          <p:cNvSpPr txBox="1"/>
          <p:nvPr/>
        </p:nvSpPr>
        <p:spPr>
          <a:xfrm>
            <a:off x="482183" y="3638861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crom" pitchFamily="2" charset="0"/>
              </a:rPr>
              <a:t>LLM</a:t>
            </a:r>
            <a:endParaRPr lang="ru-US" dirty="0">
              <a:solidFill>
                <a:schemeClr val="bg1"/>
              </a:solidFill>
              <a:latin typeface="Acrom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288ED1-E4F9-B3EF-83E3-0D595B5562C1}"/>
              </a:ext>
            </a:extLst>
          </p:cNvPr>
          <p:cNvSpPr txBox="1"/>
          <p:nvPr/>
        </p:nvSpPr>
        <p:spPr>
          <a:xfrm>
            <a:off x="1590828" y="1291737"/>
            <a:ext cx="18469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Язык</a:t>
            </a:r>
            <a:r>
              <a:rPr lang="en-US" sz="15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онтологий</a:t>
            </a:r>
            <a:endParaRPr lang="en-US" sz="1500" dirty="0">
              <a:latin typeface="Acrom" pitchFamily="2" charset="0"/>
            </a:endParaRPr>
          </a:p>
          <a:p>
            <a:endParaRPr lang="ru-US" sz="1500" dirty="0">
              <a:latin typeface="Acrom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DD207A-1E0D-CD80-41F0-0FB8D59D3D22}"/>
              </a:ext>
            </a:extLst>
          </p:cNvPr>
          <p:cNvSpPr txBox="1"/>
          <p:nvPr/>
        </p:nvSpPr>
        <p:spPr>
          <a:xfrm>
            <a:off x="1590828" y="1549950"/>
            <a:ext cx="64636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Классы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свойства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аксиомы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Формальная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семантика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рассуждений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555F58-B82A-4E10-D7AB-EA3DE5AE4BA2}"/>
              </a:ext>
            </a:extLst>
          </p:cNvPr>
          <p:cNvSpPr txBox="1"/>
          <p:nvPr/>
        </p:nvSpPr>
        <p:spPr>
          <a:xfrm>
            <a:off x="1602714" y="203627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SWRL + </a:t>
            </a:r>
            <a:r>
              <a:rPr lang="en-US" sz="15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прикладные</a:t>
            </a:r>
            <a:endParaRPr lang="en-US" sz="1500" dirty="0">
              <a:latin typeface="Acrom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73FCEC-89CC-D0A6-98C5-5A2056399F5C}"/>
              </a:ext>
            </a:extLst>
          </p:cNvPr>
          <p:cNvSpPr txBox="1"/>
          <p:nvPr/>
        </p:nvSpPr>
        <p:spPr>
          <a:xfrm>
            <a:off x="1609436" y="2299435"/>
            <a:ext cx="593784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Бизнес-логика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«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если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…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то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…».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Комбинация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проверками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на Python.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119DB0-3201-81BF-7B5B-E42257DD7822}"/>
              </a:ext>
            </a:extLst>
          </p:cNvPr>
          <p:cNvSpPr txBox="1"/>
          <p:nvPr/>
        </p:nvSpPr>
        <p:spPr>
          <a:xfrm>
            <a:off x="1626231" y="2772005"/>
            <a:ext cx="23631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Логический</a:t>
            </a:r>
            <a:r>
              <a:rPr lang="en-US" sz="15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ризонер</a:t>
            </a:r>
            <a:endParaRPr lang="en-US" sz="1500" dirty="0">
              <a:latin typeface="Acrom" pitchFamily="2" charset="0"/>
            </a:endParaRPr>
          </a:p>
          <a:p>
            <a:endParaRPr lang="ru-US" sz="1500" dirty="0">
              <a:latin typeface="Acrom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D5ACAF-80A3-D5C8-1EEF-B56609B640E3}"/>
              </a:ext>
            </a:extLst>
          </p:cNvPr>
          <p:cNvSpPr txBox="1"/>
          <p:nvPr/>
        </p:nvSpPr>
        <p:spPr>
          <a:xfrm>
            <a:off x="1626231" y="3004874"/>
            <a:ext cx="58592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Проверка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противоречий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классификация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вывод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новых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фактов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DE43EB-BF10-F67B-9B5C-28CF4ED4C0D3}"/>
              </a:ext>
            </a:extLst>
          </p:cNvPr>
          <p:cNvSpPr txBox="1"/>
          <p:nvPr/>
        </p:nvSpPr>
        <p:spPr>
          <a:xfrm>
            <a:off x="1654948" y="3546528"/>
            <a:ext cx="17187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GPT и </a:t>
            </a:r>
            <a:r>
              <a:rPr lang="en-US" sz="1500" b="1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аналоги</a:t>
            </a:r>
            <a:endParaRPr lang="en-US" sz="1500" b="1" dirty="0">
              <a:latin typeface="Acrom" pitchFamily="2" charset="0"/>
            </a:endParaRPr>
          </a:p>
          <a:p>
            <a:endParaRPr lang="ru-US" sz="1500" b="1" dirty="0">
              <a:latin typeface="Acrom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243C20-15E9-FA22-6468-CCFF5120C9E1}"/>
              </a:ext>
            </a:extLst>
          </p:cNvPr>
          <p:cNvSpPr txBox="1"/>
          <p:nvPr/>
        </p:nvSpPr>
        <p:spPr>
          <a:xfrm>
            <a:off x="1654948" y="3761971"/>
            <a:ext cx="6442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Генерация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черновика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онтологии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извлечение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фактов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из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документов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3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1A269C-AB9F-1B77-4FB1-F73A5D614CEC}"/>
              </a:ext>
            </a:extLst>
          </p:cNvPr>
          <p:cNvSpPr txBox="1"/>
          <p:nvPr/>
        </p:nvSpPr>
        <p:spPr>
          <a:xfrm>
            <a:off x="8206712" y="4757903"/>
            <a:ext cx="628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dirty="0">
                <a:latin typeface="Acrom" pitchFamily="2" charset="0"/>
              </a:rPr>
              <a:t>7</a:t>
            </a:r>
            <a:r>
              <a:rPr lang="en-US" dirty="0">
                <a:latin typeface="Acrom" pitchFamily="2" charset="0"/>
              </a:rPr>
              <a:t>/</a:t>
            </a:r>
            <a:r>
              <a:rPr lang="ru-RU" dirty="0">
                <a:latin typeface="Acrom" pitchFamily="2" charset="0"/>
              </a:rPr>
              <a:t>17</a:t>
            </a:r>
            <a:endParaRPr lang="ru-US" dirty="0">
              <a:latin typeface="Acrom" pitchFamily="2" charset="0"/>
            </a:endParaRPr>
          </a:p>
          <a:p>
            <a:endParaRPr lang="ru-US" dirty="0"/>
          </a:p>
        </p:txBody>
      </p:sp>
    </p:spTree>
    <p:extLst>
      <p:ext uri="{BB962C8B-B14F-4D97-AF65-F5344CB8AC3E}">
        <p14:creationId xmlns:p14="http://schemas.microsoft.com/office/powerpoint/2010/main" val="296678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64DC-E7A3-D71E-B629-AB72CD1B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6A8AE0D-6E1B-373C-B569-CEEB979191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8FA0711B-D510-2CEC-4ED9-39B0B2E93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11A1-E728-695D-D837-3696E381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 И СУЩЕСТВУЮЩИЕ ПОДХОДЫ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E66138-6107-3865-C918-45CBF1D13A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19225"/>
            <a:ext cx="862586" cy="7467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9AB83C-38A5-6027-CC68-74DFF8B73D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477635"/>
            <a:ext cx="862586" cy="7467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584F74-E0B4-086B-AC08-198E31C253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536045"/>
            <a:ext cx="862586" cy="746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6A8DD3-BD5A-44BE-7722-AC8B11643286}"/>
              </a:ext>
            </a:extLst>
          </p:cNvPr>
          <p:cNvSpPr txBox="1"/>
          <p:nvPr/>
        </p:nvSpPr>
        <p:spPr>
          <a:xfrm>
            <a:off x="1114106" y="1410108"/>
            <a:ext cx="3363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СЭД (1С, </a:t>
            </a:r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Directum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СБИС)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13886-FC76-C4EE-F2BE-06D350215458}"/>
              </a:ext>
            </a:extLst>
          </p:cNvPr>
          <p:cNvSpPr txBox="1"/>
          <p:nvPr/>
        </p:nvSpPr>
        <p:spPr>
          <a:xfrm>
            <a:off x="1124572" y="1715016"/>
            <a:ext cx="6596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Сильные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стороны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Регистрация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маршруты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ЭП,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архив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Ограничения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Нет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формальной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проверки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содержания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endParaRPr lang="en-US" sz="1400" dirty="0">
              <a:latin typeface="Acrom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9E667-9B2E-7F26-0522-F8C465F24B9B}"/>
              </a:ext>
            </a:extLst>
          </p:cNvPr>
          <p:cNvSpPr txBox="1"/>
          <p:nvPr/>
        </p:nvSpPr>
        <p:spPr>
          <a:xfrm>
            <a:off x="1124572" y="2431547"/>
            <a:ext cx="454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Движки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(Drools, Camunda)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DC18CD-4CC7-F43F-97B7-08BAD54BAE15}"/>
              </a:ext>
            </a:extLst>
          </p:cNvPr>
          <p:cNvSpPr txBox="1"/>
          <p:nvPr/>
        </p:nvSpPr>
        <p:spPr>
          <a:xfrm>
            <a:off x="1114106" y="2747969"/>
            <a:ext cx="6537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Сильные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стороны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Гибкое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изменение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логики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перекомпиляции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Ограничения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Правила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пишутся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вручную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нет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перехода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текста</a:t>
            </a:r>
            <a:endParaRPr lang="en-US" sz="1400" dirty="0">
              <a:latin typeface="Acrom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E2A66B-B376-BC1A-95F0-94A9A90CD961}"/>
              </a:ext>
            </a:extLst>
          </p:cNvPr>
          <p:cNvSpPr txBox="1"/>
          <p:nvPr/>
        </p:nvSpPr>
        <p:spPr>
          <a:xfrm>
            <a:off x="1124572" y="3530005"/>
            <a:ext cx="5487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Семантические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проекты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OntoGPT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Timbr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3FC18-69A1-9077-DFD8-AACCFE4F476B}"/>
              </a:ext>
            </a:extLst>
          </p:cNvPr>
          <p:cNvSpPr txBox="1"/>
          <p:nvPr/>
        </p:nvSpPr>
        <p:spPr>
          <a:xfrm>
            <a:off x="1124572" y="3853170"/>
            <a:ext cx="6748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Сильные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стороны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 Извлечение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онтологий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семантический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слой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Ограничения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Редко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полный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цикл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проверки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документов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отчёта</a:t>
            </a:r>
            <a:endParaRPr lang="en-US" sz="1400" dirty="0">
              <a:latin typeface="Acro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58F73C-68BB-7755-CE6A-3FDB680335D8}"/>
              </a:ext>
            </a:extLst>
          </p:cNvPr>
          <p:cNvSpPr txBox="1"/>
          <p:nvPr/>
        </p:nvSpPr>
        <p:spPr>
          <a:xfrm>
            <a:off x="8264259" y="4757903"/>
            <a:ext cx="641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dirty="0">
                <a:latin typeface="Acrom" pitchFamily="2" charset="0"/>
              </a:rPr>
              <a:t>8</a:t>
            </a:r>
            <a:r>
              <a:rPr lang="en-US" dirty="0">
                <a:latin typeface="Acrom" pitchFamily="2" charset="0"/>
              </a:rPr>
              <a:t>/</a:t>
            </a:r>
            <a:r>
              <a:rPr lang="ru-RU" dirty="0">
                <a:latin typeface="Acrom" pitchFamily="2" charset="0"/>
              </a:rPr>
              <a:t>17</a:t>
            </a:r>
            <a:endParaRPr lang="ru-US" dirty="0">
              <a:latin typeface="Acrom" pitchFamily="2" charset="0"/>
            </a:endParaRPr>
          </a:p>
          <a:p>
            <a:endParaRPr lang="ru-US" dirty="0"/>
          </a:p>
        </p:txBody>
      </p:sp>
    </p:spTree>
    <p:extLst>
      <p:ext uri="{BB962C8B-B14F-4D97-AF65-F5344CB8AC3E}">
        <p14:creationId xmlns:p14="http://schemas.microsoft.com/office/powerpoint/2010/main" val="196540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8EE2-7FD1-B064-6DB2-54F37B65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9C50910-C9C0-006A-F865-CF8EC7EB3C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23788F91-721F-3413-4CF3-B43921739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9581C-634C-11DE-3D8E-0743E5D4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ПРАВИЛА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2A3AB52-DFAE-CD17-C69F-7D3B2DBC90A8}"/>
              </a:ext>
            </a:extLst>
          </p:cNvPr>
          <p:cNvSpPr/>
          <p:nvPr/>
        </p:nvSpPr>
        <p:spPr>
          <a:xfrm>
            <a:off x="467544" y="1408505"/>
            <a:ext cx="256032" cy="256032"/>
          </a:xfrm>
          <a:prstGeom prst="ellipse">
            <a:avLst/>
          </a:prstGeom>
          <a:solidFill>
            <a:srgbClr val="6CB640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8FB41A-47E4-FC40-CFCB-1DA47FE29C53}"/>
              </a:ext>
            </a:extLst>
          </p:cNvPr>
          <p:cNvSpPr txBox="1"/>
          <p:nvPr/>
        </p:nvSpPr>
        <p:spPr>
          <a:xfrm>
            <a:off x="475174" y="1419225"/>
            <a:ext cx="24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200" dirty="0">
                <a:solidFill>
                  <a:schemeClr val="bg1"/>
                </a:solidFill>
                <a:latin typeface="Montserrat" pitchFamily="2" charset="0"/>
              </a:rPr>
              <a:t>1</a:t>
            </a: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05FE02B-DC08-CFB2-177F-840DAF931614}"/>
              </a:ext>
            </a:extLst>
          </p:cNvPr>
          <p:cNvSpPr/>
          <p:nvPr/>
        </p:nvSpPr>
        <p:spPr>
          <a:xfrm>
            <a:off x="475174" y="1791674"/>
            <a:ext cx="256032" cy="256032"/>
          </a:xfrm>
          <a:prstGeom prst="ellipse">
            <a:avLst/>
          </a:prstGeom>
          <a:solidFill>
            <a:srgbClr val="6CB640"/>
          </a:solidFill>
          <a:ln/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5D443-CF43-7F36-9CAB-0A4B230F93DD}"/>
              </a:ext>
            </a:extLst>
          </p:cNvPr>
          <p:cNvSpPr txBox="1"/>
          <p:nvPr/>
        </p:nvSpPr>
        <p:spPr>
          <a:xfrm>
            <a:off x="482804" y="1802394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200" dirty="0">
                <a:solidFill>
                  <a:schemeClr val="bg1"/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7889C820-E04E-5503-B0F5-5F38E6B5A0B2}"/>
              </a:ext>
            </a:extLst>
          </p:cNvPr>
          <p:cNvSpPr/>
          <p:nvPr/>
        </p:nvSpPr>
        <p:spPr>
          <a:xfrm>
            <a:off x="482804" y="2177592"/>
            <a:ext cx="256032" cy="256032"/>
          </a:xfrm>
          <a:prstGeom prst="ellipse">
            <a:avLst/>
          </a:prstGeom>
          <a:solidFill>
            <a:srgbClr val="6CB640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65FEA7-8009-003A-E607-7BEC95A6253E}"/>
              </a:ext>
            </a:extLst>
          </p:cNvPr>
          <p:cNvSpPr txBox="1"/>
          <p:nvPr/>
        </p:nvSpPr>
        <p:spPr>
          <a:xfrm>
            <a:off x="475174" y="2188884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2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E37CC024-D136-3117-B53F-92764D8B32B0}"/>
              </a:ext>
            </a:extLst>
          </p:cNvPr>
          <p:cNvSpPr/>
          <p:nvPr/>
        </p:nvSpPr>
        <p:spPr>
          <a:xfrm>
            <a:off x="482804" y="2574294"/>
            <a:ext cx="256032" cy="256032"/>
          </a:xfrm>
          <a:prstGeom prst="ellipse">
            <a:avLst/>
          </a:prstGeom>
          <a:solidFill>
            <a:srgbClr val="6CB640"/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4C592-0B19-19ED-A5F1-F444B4F9E597}"/>
              </a:ext>
            </a:extLst>
          </p:cNvPr>
          <p:cNvSpPr txBox="1"/>
          <p:nvPr/>
        </p:nvSpPr>
        <p:spPr>
          <a:xfrm>
            <a:off x="467544" y="2571458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200" dirty="0">
                <a:solidFill>
                  <a:schemeClr val="bg1"/>
                </a:solidFill>
                <a:latin typeface="Montserrat" pitchFamily="2" charset="0"/>
              </a:rPr>
              <a:t>4</a:t>
            </a: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DAA5D2A-CDBE-31DE-9D1D-FCD2D1248CC4}"/>
              </a:ext>
            </a:extLst>
          </p:cNvPr>
          <p:cNvSpPr/>
          <p:nvPr/>
        </p:nvSpPr>
        <p:spPr>
          <a:xfrm>
            <a:off x="509023" y="3194217"/>
            <a:ext cx="256032" cy="256032"/>
          </a:xfrm>
          <a:prstGeom prst="ellipse">
            <a:avLst/>
          </a:prstGeom>
          <a:solidFill>
            <a:srgbClr val="6CB640"/>
          </a:solidFill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32E0FA-45B8-B7FE-699A-4366F0C31554}"/>
              </a:ext>
            </a:extLst>
          </p:cNvPr>
          <p:cNvSpPr txBox="1"/>
          <p:nvPr/>
        </p:nvSpPr>
        <p:spPr>
          <a:xfrm>
            <a:off x="501217" y="3183733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200" dirty="0">
                <a:solidFill>
                  <a:schemeClr val="bg1"/>
                </a:solidFill>
                <a:latin typeface="Montserrat" pitchFamily="2" charset="0"/>
              </a:rPr>
              <a:t>5</a:t>
            </a: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645CA084-4F60-E321-CA24-A97610DC0F1C}"/>
              </a:ext>
            </a:extLst>
          </p:cNvPr>
          <p:cNvSpPr/>
          <p:nvPr/>
        </p:nvSpPr>
        <p:spPr>
          <a:xfrm>
            <a:off x="516477" y="3583830"/>
            <a:ext cx="256032" cy="256032"/>
          </a:xfrm>
          <a:prstGeom prst="ellipse">
            <a:avLst/>
          </a:prstGeom>
          <a:solidFill>
            <a:srgbClr val="6CB640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2F4D2F-2317-FE9D-BC51-FD39A8B429F8}"/>
              </a:ext>
            </a:extLst>
          </p:cNvPr>
          <p:cNvSpPr txBox="1"/>
          <p:nvPr/>
        </p:nvSpPr>
        <p:spPr>
          <a:xfrm>
            <a:off x="508847" y="3588106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200" dirty="0">
                <a:solidFill>
                  <a:schemeClr val="bg1"/>
                </a:solidFill>
                <a:latin typeface="Montserrat" pitchFamily="2" charset="0"/>
              </a:rPr>
              <a:t>6</a:t>
            </a: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F0FCA4FE-CCB3-D020-0D07-057DD99282B3}"/>
              </a:ext>
            </a:extLst>
          </p:cNvPr>
          <p:cNvSpPr/>
          <p:nvPr/>
        </p:nvSpPr>
        <p:spPr>
          <a:xfrm>
            <a:off x="509176" y="4152566"/>
            <a:ext cx="256032" cy="256032"/>
          </a:xfrm>
          <a:prstGeom prst="ellipse">
            <a:avLst/>
          </a:prstGeom>
          <a:solidFill>
            <a:srgbClr val="6CB640"/>
          </a:solidFill>
          <a:ln/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338535-6CE7-F482-9E25-D2D558CEC806}"/>
              </a:ext>
            </a:extLst>
          </p:cNvPr>
          <p:cNvSpPr txBox="1"/>
          <p:nvPr/>
        </p:nvSpPr>
        <p:spPr>
          <a:xfrm>
            <a:off x="516477" y="414997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200" dirty="0">
                <a:solidFill>
                  <a:schemeClr val="bg1"/>
                </a:solidFill>
                <a:latin typeface="Montserrat" pitchFamily="2" charset="0"/>
              </a:rPr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422FE8-A453-637D-529E-230B557160B0}"/>
              </a:ext>
            </a:extLst>
          </p:cNvPr>
          <p:cNvSpPr txBox="1"/>
          <p:nvPr/>
        </p:nvSpPr>
        <p:spPr>
          <a:xfrm>
            <a:off x="715946" y="1400515"/>
            <a:ext cx="6447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600" dirty="0">
                <a:latin typeface="Acrom" pitchFamily="2" charset="0"/>
              </a:rPr>
              <a:t>Проверка заполнения всех обязательных полей приказа </a:t>
            </a: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6CE555-A6F4-9472-F51B-98C4F3834540}"/>
              </a:ext>
            </a:extLst>
          </p:cNvPr>
          <p:cNvSpPr txBox="1"/>
          <p:nvPr/>
        </p:nvSpPr>
        <p:spPr>
          <a:xfrm>
            <a:off x="723576" y="1782298"/>
            <a:ext cx="6176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600" dirty="0">
                <a:latin typeface="Acrom" pitchFamily="2" charset="0"/>
              </a:rPr>
              <a:t>Контроль корректности кода направления подготовки </a:t>
            </a: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672E51-195B-1548-AFE1-85EB2A8758BE}"/>
              </a:ext>
            </a:extLst>
          </p:cNvPr>
          <p:cNvSpPr txBox="1"/>
          <p:nvPr/>
        </p:nvSpPr>
        <p:spPr>
          <a:xfrm>
            <a:off x="716115" y="2147513"/>
            <a:ext cx="6244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600" dirty="0">
                <a:latin typeface="Acrom" pitchFamily="2" charset="0"/>
              </a:rPr>
              <a:t>Проверка логической корректности периода практики </a:t>
            </a: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1834B5-813D-87B2-4B6C-C93D6DAC921B}"/>
              </a:ext>
            </a:extLst>
          </p:cNvPr>
          <p:cNvSpPr txBox="1"/>
          <p:nvPr/>
        </p:nvSpPr>
        <p:spPr>
          <a:xfrm>
            <a:off x="715946" y="2543115"/>
            <a:ext cx="8176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1600" dirty="0">
                <a:latin typeface="Acrom" pitchFamily="2" charset="0"/>
              </a:rPr>
              <a:t>Соблюдение минимального срока (30 дней) между датой издания приказа и началом практики </a:t>
            </a: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8E3E97-14D7-5C94-D0F9-A48CA1D51CC5}"/>
              </a:ext>
            </a:extLst>
          </p:cNvPr>
          <p:cNvSpPr txBox="1"/>
          <p:nvPr/>
        </p:nvSpPr>
        <p:spPr>
          <a:xfrm>
            <a:off x="715946" y="3168344"/>
            <a:ext cx="5424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600" dirty="0">
                <a:latin typeface="Acrom" pitchFamily="2" charset="0"/>
              </a:rPr>
              <a:t>Наличие назначенного руководителя практики </a:t>
            </a: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95E07-5737-5DC4-371A-954EFEBC8573}"/>
              </a:ext>
            </a:extLst>
          </p:cNvPr>
          <p:cNvSpPr txBox="1"/>
          <p:nvPr/>
        </p:nvSpPr>
        <p:spPr>
          <a:xfrm>
            <a:off x="736057" y="3557375"/>
            <a:ext cx="8807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US" sz="1600" dirty="0">
                <a:latin typeface="Acrom" pitchFamily="2" charset="0"/>
              </a:rPr>
              <a:t>Обеспечение уникальности номеров зачетных </a:t>
            </a:r>
          </a:p>
          <a:p>
            <a:pPr lvl="0"/>
            <a:r>
              <a:rPr lang="ru-US" sz="1600" dirty="0">
                <a:latin typeface="Acrom" pitchFamily="2" charset="0"/>
              </a:rPr>
              <a:t>книжек студентов </a:t>
            </a: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584607-940E-C495-C667-781FC51922A6}"/>
              </a:ext>
            </a:extLst>
          </p:cNvPr>
          <p:cNvSpPr txBox="1"/>
          <p:nvPr/>
        </p:nvSpPr>
        <p:spPr>
          <a:xfrm>
            <a:off x="753200" y="413461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US" sz="1600" dirty="0">
                <a:latin typeface="Acrom" pitchFamily="2" charset="0"/>
              </a:rPr>
              <a:t>Явное указание типа практики </a:t>
            </a: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A4C0C1-6BD9-E816-14E1-F61442DFCF8D}"/>
              </a:ext>
            </a:extLst>
          </p:cNvPr>
          <p:cNvSpPr txBox="1"/>
          <p:nvPr/>
        </p:nvSpPr>
        <p:spPr>
          <a:xfrm>
            <a:off x="8244408" y="4755850"/>
            <a:ext cx="4770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9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12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06B9-4E12-D67B-322F-D87243E0D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F8EA0D6-6E9F-A7EB-57DF-1C07FF5E79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35425A4A-B55C-5224-833E-7B693C80C9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21773-DEA9-3484-3A5C-47B85E0E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АРХИТЕКТУРА: ДВА ПАЙПЛАЙНА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F7BE2FA-2AA8-9AC0-5019-31D73CEC3CF3}"/>
              </a:ext>
            </a:extLst>
          </p:cNvPr>
          <p:cNvSpPr/>
          <p:nvPr/>
        </p:nvSpPr>
        <p:spPr>
          <a:xfrm>
            <a:off x="467544" y="1405909"/>
            <a:ext cx="3312368" cy="2953494"/>
          </a:xfrm>
          <a:prstGeom prst="roundRect">
            <a:avLst>
              <a:gd name="adj" fmla="val 1818"/>
            </a:avLst>
          </a:prstGeom>
          <a:solidFill>
            <a:srgbClr val="F7F9F5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677B39-93CC-5787-D906-7FBE1F71B004}"/>
              </a:ext>
            </a:extLst>
          </p:cNvPr>
          <p:cNvSpPr/>
          <p:nvPr/>
        </p:nvSpPr>
        <p:spPr>
          <a:xfrm>
            <a:off x="4283968" y="1457096"/>
            <a:ext cx="3312368" cy="2953494"/>
          </a:xfrm>
          <a:prstGeom prst="roundRect">
            <a:avLst>
              <a:gd name="adj" fmla="val 1818"/>
            </a:avLst>
          </a:prstGeom>
          <a:solidFill>
            <a:srgbClr val="F7F9F5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0FD8BC5-35D2-1DB7-3FD2-E59D8D2BD1C8}"/>
              </a:ext>
            </a:extLst>
          </p:cNvPr>
          <p:cNvSpPr/>
          <p:nvPr/>
        </p:nvSpPr>
        <p:spPr>
          <a:xfrm>
            <a:off x="467544" y="1405908"/>
            <a:ext cx="3312368" cy="517769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E04E095-A44E-55C0-566D-0427B02E3D17}"/>
              </a:ext>
            </a:extLst>
          </p:cNvPr>
          <p:cNvSpPr/>
          <p:nvPr/>
        </p:nvSpPr>
        <p:spPr>
          <a:xfrm>
            <a:off x="4283968" y="1405908"/>
            <a:ext cx="3312368" cy="517769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8D70A-3228-82F0-FA66-24C5D5725503}"/>
              </a:ext>
            </a:extLst>
          </p:cNvPr>
          <p:cNvSpPr txBox="1"/>
          <p:nvPr/>
        </p:nvSpPr>
        <p:spPr>
          <a:xfrm>
            <a:off x="586287" y="1505001"/>
            <a:ext cx="3074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Build-time — </a:t>
            </a:r>
            <a:r>
              <a:rPr lang="en-US" sz="1400" b="1" dirty="0" err="1">
                <a:solidFill>
                  <a:srgbClr val="FFFFFF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создание</a:t>
            </a:r>
            <a:r>
              <a:rPr lang="en-US" sz="1400" b="1" dirty="0">
                <a:solidFill>
                  <a:srgbClr val="FFFFFF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знания</a:t>
            </a:r>
            <a:endParaRPr lang="en-US" sz="1400" dirty="0">
              <a:latin typeface="Acrom" pitchFamily="2" charset="0"/>
            </a:endParaRPr>
          </a:p>
          <a:p>
            <a:endParaRPr lang="ru-US" sz="1400" dirty="0">
              <a:latin typeface="Acrom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FDB2D-C7C4-FFED-0107-309DEED8B55A}"/>
              </a:ext>
            </a:extLst>
          </p:cNvPr>
          <p:cNvSpPr txBox="1"/>
          <p:nvPr/>
        </p:nvSpPr>
        <p:spPr>
          <a:xfrm>
            <a:off x="4283968" y="1513201"/>
            <a:ext cx="3374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Runtime — проверка </a:t>
            </a:r>
            <a:r>
              <a:rPr lang="en-US" sz="1400" b="1" dirty="0" err="1">
                <a:solidFill>
                  <a:srgbClr val="FFFFFF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документов</a:t>
            </a:r>
            <a:endParaRPr lang="en-US" sz="1400" dirty="0">
              <a:latin typeface="Acrom" pitchFamily="2" charset="0"/>
            </a:endParaRPr>
          </a:p>
          <a:p>
            <a:endParaRPr lang="ru-US" sz="1400" dirty="0">
              <a:latin typeface="Acrom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30A64-763E-FE26-1DCC-598F00B168F5}"/>
              </a:ext>
            </a:extLst>
          </p:cNvPr>
          <p:cNvSpPr txBox="1"/>
          <p:nvPr/>
        </p:nvSpPr>
        <p:spPr>
          <a:xfrm>
            <a:off x="586287" y="2155213"/>
            <a:ext cx="31578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1. Извлечение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текста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Генерация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черновика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онтологии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(LLM)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Материализация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OWL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Экспертная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доводка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Protégé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Интеграция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practice.owl</a:t>
            </a:r>
            <a:endParaRPr lang="en-US" sz="1400" dirty="0">
              <a:latin typeface="Acrom" pitchFamily="2" charset="0"/>
            </a:endParaRPr>
          </a:p>
          <a:p>
            <a:endParaRPr lang="ru-US" sz="1400" dirty="0">
              <a:latin typeface="Acrom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8330C3-8991-4FF8-ABEF-44C62A8C6E13}"/>
              </a:ext>
            </a:extLst>
          </p:cNvPr>
          <p:cNvSpPr txBox="1"/>
          <p:nvPr/>
        </p:nvSpPr>
        <p:spPr>
          <a:xfrm>
            <a:off x="4301441" y="2155303"/>
            <a:ext cx="31508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1. Загрузка PDF / DOCX / TXT (+ OCR)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2. Извлечение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фактов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(LLM)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Введение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фактов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онтологию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Логический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вывод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HermiT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5. Проверка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№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1…</a:t>
            </a:r>
            <a:r>
              <a:rPr lang="ru-RU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№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>
              <a:latin typeface="Acrom" pitchFamily="2" charset="0"/>
            </a:endParaRPr>
          </a:p>
          <a:p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6. HTML-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отчёт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4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объяснениями</a:t>
            </a:r>
            <a:endParaRPr lang="en-US" sz="1400" dirty="0">
              <a:latin typeface="Acrom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59C2C5-C45F-F041-FFD2-4A82CD4D2B05}"/>
              </a:ext>
            </a:extLst>
          </p:cNvPr>
          <p:cNvSpPr txBox="1"/>
          <p:nvPr/>
        </p:nvSpPr>
        <p:spPr>
          <a:xfrm>
            <a:off x="8123272" y="47579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10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749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AAB7-0C00-70BA-5730-7EA319AC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0DE6888-75D5-7C5E-941C-D7D5F0540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5B1CC16-2496-6D00-D166-DB4A0E407B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2636986" cy="38316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484D0-25FA-FAF7-9FE4-0134EE50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РЕАЛИЗОВАНО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E3892-78E7-2E9C-87B0-32776FFA521A}"/>
              </a:ext>
            </a:extLst>
          </p:cNvPr>
          <p:cNvSpPr txBox="1"/>
          <p:nvPr/>
        </p:nvSpPr>
        <p:spPr>
          <a:xfrm>
            <a:off x="336558" y="1279174"/>
            <a:ext cx="8015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Прототип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onto-practice —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автоматической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проверки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приказов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практике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latin typeface="Acrom" pitchFamily="2" charset="0"/>
            </a:endParaRPr>
          </a:p>
          <a:p>
            <a:endParaRPr lang="ru-US" sz="1400" dirty="0">
              <a:latin typeface="Acrom" pitchFamily="2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3D82D1A-AC8B-9F4F-52FD-BE7F0FD99005}"/>
              </a:ext>
            </a:extLst>
          </p:cNvPr>
          <p:cNvSpPr/>
          <p:nvPr/>
        </p:nvSpPr>
        <p:spPr>
          <a:xfrm>
            <a:off x="351568" y="1713020"/>
            <a:ext cx="2363234" cy="1168213"/>
          </a:xfrm>
          <a:prstGeom prst="roundRect">
            <a:avLst>
              <a:gd name="adj" fmla="val 3721"/>
            </a:avLst>
          </a:prstGeom>
          <a:solidFill>
            <a:srgbClr val="F7F9F5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9BB45C-99B7-1E5E-CC82-1CFF4A3DC6C4}"/>
              </a:ext>
            </a:extLst>
          </p:cNvPr>
          <p:cNvSpPr/>
          <p:nvPr/>
        </p:nvSpPr>
        <p:spPr>
          <a:xfrm>
            <a:off x="351568" y="3013658"/>
            <a:ext cx="2363234" cy="1168213"/>
          </a:xfrm>
          <a:prstGeom prst="roundRect">
            <a:avLst>
              <a:gd name="adj" fmla="val 3721"/>
            </a:avLst>
          </a:prstGeom>
          <a:solidFill>
            <a:srgbClr val="F7F9F5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8924CEA-298E-F51A-6FC7-01A790803850}"/>
              </a:ext>
            </a:extLst>
          </p:cNvPr>
          <p:cNvSpPr/>
          <p:nvPr/>
        </p:nvSpPr>
        <p:spPr>
          <a:xfrm>
            <a:off x="3002104" y="1713019"/>
            <a:ext cx="2363234" cy="1168213"/>
          </a:xfrm>
          <a:prstGeom prst="roundRect">
            <a:avLst>
              <a:gd name="adj" fmla="val 3721"/>
            </a:avLst>
          </a:prstGeom>
          <a:solidFill>
            <a:srgbClr val="F7F9F5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837CF67-6078-1A4F-D9D5-121D7025D64F}"/>
              </a:ext>
            </a:extLst>
          </p:cNvPr>
          <p:cNvSpPr/>
          <p:nvPr/>
        </p:nvSpPr>
        <p:spPr>
          <a:xfrm>
            <a:off x="2987824" y="3013658"/>
            <a:ext cx="2363234" cy="1168213"/>
          </a:xfrm>
          <a:prstGeom prst="roundRect">
            <a:avLst>
              <a:gd name="adj" fmla="val 3721"/>
            </a:avLst>
          </a:prstGeom>
          <a:solidFill>
            <a:srgbClr val="F7F9F5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8395529C-6E31-8361-8680-C2D5F6EE6FC3}"/>
              </a:ext>
            </a:extLst>
          </p:cNvPr>
          <p:cNvSpPr/>
          <p:nvPr/>
        </p:nvSpPr>
        <p:spPr>
          <a:xfrm>
            <a:off x="5624080" y="2998638"/>
            <a:ext cx="2363234" cy="1168213"/>
          </a:xfrm>
          <a:prstGeom prst="roundRect">
            <a:avLst>
              <a:gd name="adj" fmla="val 3721"/>
            </a:avLst>
          </a:prstGeom>
          <a:solidFill>
            <a:srgbClr val="F7F9F5"/>
          </a:solidFill>
          <a:ln/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C436164-9463-E2C3-D800-3F6AFF464A3E}"/>
              </a:ext>
            </a:extLst>
          </p:cNvPr>
          <p:cNvSpPr/>
          <p:nvPr/>
        </p:nvSpPr>
        <p:spPr>
          <a:xfrm>
            <a:off x="5652640" y="1705869"/>
            <a:ext cx="2363234" cy="1168213"/>
          </a:xfrm>
          <a:prstGeom prst="roundRect">
            <a:avLst>
              <a:gd name="adj" fmla="val 3721"/>
            </a:avLst>
          </a:prstGeom>
          <a:solidFill>
            <a:srgbClr val="F7F9F5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4094B25-590F-288C-B839-3002AA08BB08}"/>
              </a:ext>
            </a:extLst>
          </p:cNvPr>
          <p:cNvSpPr/>
          <p:nvPr/>
        </p:nvSpPr>
        <p:spPr>
          <a:xfrm>
            <a:off x="362643" y="1710954"/>
            <a:ext cx="2352159" cy="91440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A828953D-E527-719A-D0DD-268E414550C7}"/>
              </a:ext>
            </a:extLst>
          </p:cNvPr>
          <p:cNvSpPr/>
          <p:nvPr/>
        </p:nvSpPr>
        <p:spPr>
          <a:xfrm>
            <a:off x="2987824" y="1713019"/>
            <a:ext cx="2352159" cy="91440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20A0C81A-E11C-F8E4-E375-58023EB83CB6}"/>
              </a:ext>
            </a:extLst>
          </p:cNvPr>
          <p:cNvSpPr/>
          <p:nvPr/>
        </p:nvSpPr>
        <p:spPr>
          <a:xfrm>
            <a:off x="5652640" y="1713256"/>
            <a:ext cx="2352159" cy="91440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7E379B7-6181-BD27-DB59-FD487AABCDAE}"/>
              </a:ext>
            </a:extLst>
          </p:cNvPr>
          <p:cNvSpPr/>
          <p:nvPr/>
        </p:nvSpPr>
        <p:spPr>
          <a:xfrm>
            <a:off x="362643" y="3036974"/>
            <a:ext cx="2352159" cy="91440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E9744C45-96B8-7FD9-7B81-28997A239EC0}"/>
              </a:ext>
            </a:extLst>
          </p:cNvPr>
          <p:cNvSpPr/>
          <p:nvPr/>
        </p:nvSpPr>
        <p:spPr>
          <a:xfrm>
            <a:off x="2987823" y="3034909"/>
            <a:ext cx="2352159" cy="91440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4DFF6B6B-D67C-97AD-2ACD-148356512D7B}"/>
              </a:ext>
            </a:extLst>
          </p:cNvPr>
          <p:cNvSpPr/>
          <p:nvPr/>
        </p:nvSpPr>
        <p:spPr>
          <a:xfrm>
            <a:off x="5645865" y="3034909"/>
            <a:ext cx="2352159" cy="91440"/>
          </a:xfrm>
          <a:prstGeom prst="rect">
            <a:avLst/>
          </a:prstGeom>
          <a:solidFill>
            <a:srgbClr val="6CB640"/>
          </a:solidFill>
          <a:ln/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02DE9F-3706-B2A6-2F67-91358BB9A1FF}"/>
              </a:ext>
            </a:extLst>
          </p:cNvPr>
          <p:cNvSpPr txBox="1"/>
          <p:nvPr/>
        </p:nvSpPr>
        <p:spPr>
          <a:xfrm>
            <a:off x="1043608" y="1802394"/>
            <a:ext cx="814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b="1" dirty="0">
              <a:latin typeface="Acrom" pitchFamily="2" charset="0"/>
            </a:endParaRPr>
          </a:p>
          <a:p>
            <a:endParaRPr lang="ru-US" b="1" dirty="0">
              <a:latin typeface="Acrom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72FA7A-697C-0148-0FE4-79A67150A507}"/>
              </a:ext>
            </a:extLst>
          </p:cNvPr>
          <p:cNvSpPr txBox="1"/>
          <p:nvPr/>
        </p:nvSpPr>
        <p:spPr>
          <a:xfrm>
            <a:off x="3145229" y="1823645"/>
            <a:ext cx="2161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Веб-интерфейс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A5F350-D27D-701C-F99C-DE32B14479A4}"/>
              </a:ext>
            </a:extLst>
          </p:cNvPr>
          <p:cNvSpPr txBox="1"/>
          <p:nvPr/>
        </p:nvSpPr>
        <p:spPr>
          <a:xfrm>
            <a:off x="5844536" y="1845349"/>
            <a:ext cx="192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Устойчивость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BA3488-5CE7-6838-98C8-47B9D731245C}"/>
              </a:ext>
            </a:extLst>
          </p:cNvPr>
          <p:cNvSpPr txBox="1"/>
          <p:nvPr/>
        </p:nvSpPr>
        <p:spPr>
          <a:xfrm>
            <a:off x="903845" y="3126349"/>
            <a:ext cx="1258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Плагины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B1EC0D-85CD-E71A-D90E-B4D3C1DEE2AC}"/>
              </a:ext>
            </a:extLst>
          </p:cNvPr>
          <p:cNvSpPr txBox="1"/>
          <p:nvPr/>
        </p:nvSpPr>
        <p:spPr>
          <a:xfrm>
            <a:off x="3221758" y="3126348"/>
            <a:ext cx="1923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</a:t>
            </a:r>
            <a:r>
              <a:rPr lang="en-US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MVP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AA9FD3-5B7A-C174-F53C-F0604017F5A8}"/>
              </a:ext>
            </a:extLst>
          </p:cNvPr>
          <p:cNvSpPr txBox="1"/>
          <p:nvPr/>
        </p:nvSpPr>
        <p:spPr>
          <a:xfrm>
            <a:off x="5819468" y="3126348"/>
            <a:ext cx="2018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dirty="0">
              <a:latin typeface="Acrom" pitchFamily="2" charset="0"/>
            </a:endParaRPr>
          </a:p>
          <a:p>
            <a:endParaRPr lang="ru-US" dirty="0">
              <a:latin typeface="Acrom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797CAB-947D-20A7-4163-D66F893FF631}"/>
              </a:ext>
            </a:extLst>
          </p:cNvPr>
          <p:cNvSpPr txBox="1"/>
          <p:nvPr/>
        </p:nvSpPr>
        <p:spPr>
          <a:xfrm>
            <a:off x="358022" y="2234446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Python, owlready2, HermiT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A95C27-3779-2E4F-DB14-102EFE364498}"/>
              </a:ext>
            </a:extLst>
          </p:cNvPr>
          <p:cNvSpPr txBox="1"/>
          <p:nvPr/>
        </p:nvSpPr>
        <p:spPr>
          <a:xfrm>
            <a:off x="3084371" y="2201847"/>
            <a:ext cx="2232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Загрузка,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мониторинг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отчёты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управление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онтологией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3719B-5104-08C5-A653-C49E85A767F3}"/>
              </a:ext>
            </a:extLst>
          </p:cNvPr>
          <p:cNvSpPr txBox="1"/>
          <p:nvPr/>
        </p:nvSpPr>
        <p:spPr>
          <a:xfrm>
            <a:off x="5702692" y="2216384"/>
            <a:ext cx="2238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Кэш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fallback-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ротация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ключей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retry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4D1791-33AC-CBD6-69AA-F8E8186F1F56}"/>
              </a:ext>
            </a:extLst>
          </p:cNvPr>
          <p:cNvSpPr txBox="1"/>
          <p:nvPr/>
        </p:nvSpPr>
        <p:spPr>
          <a:xfrm>
            <a:off x="336558" y="3512429"/>
            <a:ext cx="2276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Новый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регламент =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новый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OWL-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BEDB4A-527C-F908-64D6-CBC833E1517F}"/>
              </a:ext>
            </a:extLst>
          </p:cNvPr>
          <p:cNvSpPr txBox="1"/>
          <p:nvPr/>
        </p:nvSpPr>
        <p:spPr>
          <a:xfrm>
            <a:off x="2972530" y="3512429"/>
            <a:ext cx="2333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Поля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период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30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дней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руководитель,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уникальность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тип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BD56F6-CEBE-E65A-2A20-6355ED8B202C}"/>
              </a:ext>
            </a:extLst>
          </p:cNvPr>
          <p:cNvSpPr txBox="1"/>
          <p:nvPr/>
        </p:nvSpPr>
        <p:spPr>
          <a:xfrm>
            <a:off x="5619334" y="3532940"/>
            <a:ext cx="2218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Требования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архитектура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, Protégé,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пользовательская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DA91FA-8460-73D3-B333-D7D97AEA16D6}"/>
              </a:ext>
            </a:extLst>
          </p:cNvPr>
          <p:cNvSpPr txBox="1"/>
          <p:nvPr/>
        </p:nvSpPr>
        <p:spPr>
          <a:xfrm>
            <a:off x="8172400" y="47612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11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669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17231"/>
            <a:ext cx="9141292" cy="51435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5FA0C8-D850-9D71-007F-0690AFAA27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48" y="1275606"/>
            <a:ext cx="6991752" cy="3266459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 idx="4294967295"/>
          </p:nvPr>
        </p:nvSpPr>
        <p:spPr>
          <a:xfrm>
            <a:off x="351237" y="718571"/>
            <a:ext cx="7750175" cy="369887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chemeClr val="bg1"/>
                </a:solidFill>
                <a:latin typeface="Acrom ExtraBold" panose="00000900000000000000" pitchFamily="50" charset="-52"/>
              </a:rPr>
              <a:t>ВЕБ-ИНТЕРФЕЙС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46AD2-3DD6-0454-290D-C4120177F482}"/>
              </a:ext>
            </a:extLst>
          </p:cNvPr>
          <p:cNvSpPr txBox="1"/>
          <p:nvPr/>
        </p:nvSpPr>
        <p:spPr>
          <a:xfrm>
            <a:off x="8172400" y="47569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sz="1800" dirty="0">
                <a:latin typeface="Acrom" pitchFamily="2" charset="0"/>
              </a:rPr>
              <a:t>12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19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FB18-11C0-8145-B681-2D8092B6A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05E7288-EC61-E16F-8495-D4ABFA08DF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35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1CD12B-1C10-E794-BF05-D096BC4CEC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493A5E4-5222-6F97-BDDC-B09D68259B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FC503C5-D7DA-C46F-6877-A99E9F9E9C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1237" y="718571"/>
            <a:ext cx="7750175" cy="369887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chemeClr val="bg1"/>
                </a:solidFill>
                <a:latin typeface="Acrom ExtraBold" panose="00000900000000000000" pitchFamily="50" charset="-52"/>
              </a:rPr>
              <a:t>ВЕБ-ИНТЕРФЕЙС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B3D4E3-FD3B-69EB-1F55-0A79C3C219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275607"/>
            <a:ext cx="4464496" cy="3240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4561DE-4740-6C67-45B1-E004C95D1614}"/>
              </a:ext>
            </a:extLst>
          </p:cNvPr>
          <p:cNvSpPr txBox="1"/>
          <p:nvPr/>
        </p:nvSpPr>
        <p:spPr>
          <a:xfrm>
            <a:off x="8172400" y="47579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13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049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82FF-DBC3-9F52-0289-4DD88B2C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066D7CD-13CA-5A0A-E673-57EA894B1B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43"/>
            <a:ext cx="9141292" cy="51435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C07C6D-CB4A-F754-E80D-27B31E7EAC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7D4943-AE6A-6BE7-B565-C4956B10A6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F09A5F8-7BDE-AD7F-CDFD-FE74A61946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1237" y="718571"/>
            <a:ext cx="7750175" cy="369887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chemeClr val="bg1"/>
                </a:solidFill>
                <a:latin typeface="Acrom ExtraBold" panose="00000900000000000000" pitchFamily="50" charset="-52"/>
              </a:rPr>
              <a:t>ВЕБ-ИНТЕРФЕЙС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4F1A4D-9410-CF0F-0B24-23EA39361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009" y="1275607"/>
            <a:ext cx="6030630" cy="3240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36D1E9-FF9E-5DCA-4670-F63DD3CE85F5}"/>
              </a:ext>
            </a:extLst>
          </p:cNvPr>
          <p:cNvSpPr txBox="1"/>
          <p:nvPr/>
        </p:nvSpPr>
        <p:spPr>
          <a:xfrm>
            <a:off x="8107051" y="47579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14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58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F4A0-ECAE-D8A2-1AAF-2503EB70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4238C1D-0501-4D72-B462-AE2E4F2608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ACB34-1450-7534-FCA9-51F8D2CB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РЕЗУЛЬТАТЫ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FCC354-DD08-38B5-D6CF-F829845584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US" dirty="0"/>
              <a:t> 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9C7E16E-655C-E41D-814B-07CA8B9A51DA}"/>
              </a:ext>
            </a:extLst>
          </p:cNvPr>
          <p:cNvSpPr/>
          <p:nvPr/>
        </p:nvSpPr>
        <p:spPr>
          <a:xfrm>
            <a:off x="251520" y="1298649"/>
            <a:ext cx="8640960" cy="913061"/>
          </a:xfrm>
          <a:prstGeom prst="roundRect">
            <a:avLst>
              <a:gd name="adj" fmla="val 5000"/>
            </a:avLst>
          </a:prstGeom>
          <a:solidFill>
            <a:srgbClr val="F0F7EB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97A77-3A67-B9C0-1DE9-9D93DDAC0AE2}"/>
              </a:ext>
            </a:extLst>
          </p:cNvPr>
          <p:cNvSpPr txBox="1"/>
          <p:nvPr/>
        </p:nvSpPr>
        <p:spPr>
          <a:xfrm>
            <a:off x="516242" y="1279174"/>
            <a:ext cx="811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Демонстрационный</a:t>
            </a:r>
            <a:r>
              <a:rPr lang="en-US" sz="1400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приказ</a:t>
            </a:r>
            <a:r>
              <a:rPr lang="en-US" sz="1400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400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направлении</a:t>
            </a:r>
            <a:r>
              <a:rPr lang="en-US" sz="1400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студентов</a:t>
            </a:r>
            <a:r>
              <a:rPr lang="en-US" sz="1400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400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курса</a:t>
            </a:r>
            <a:r>
              <a:rPr lang="en-US" sz="1400" b="1" dirty="0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ФИТ на </a:t>
            </a:r>
            <a:r>
              <a:rPr lang="en-US" sz="1400" b="1" dirty="0" err="1">
                <a:solidFill>
                  <a:srgbClr val="5F9E38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практику</a:t>
            </a:r>
            <a:endParaRPr lang="en-US" sz="1400" dirty="0">
              <a:latin typeface="Acrom" pitchFamily="2" charset="0"/>
            </a:endParaRPr>
          </a:p>
          <a:p>
            <a:endParaRPr lang="ru-US" sz="1400" dirty="0">
              <a:latin typeface="Acrom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BE6EB-6737-54FB-8D2E-04B60912D858}"/>
              </a:ext>
            </a:extLst>
          </p:cNvPr>
          <p:cNvSpPr txBox="1"/>
          <p:nvPr/>
        </p:nvSpPr>
        <p:spPr>
          <a:xfrm>
            <a:off x="283244" y="1610809"/>
            <a:ext cx="8347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корректно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прошла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весь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цикл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точно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зафиксировала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нарушение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правила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минимальном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30-дневном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сроке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приказе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— 14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дней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38796A6-9456-294F-C912-A4D35070D5D3}"/>
              </a:ext>
            </a:extLst>
          </p:cNvPr>
          <p:cNvSpPr/>
          <p:nvPr/>
        </p:nvSpPr>
        <p:spPr>
          <a:xfrm>
            <a:off x="268599" y="2316373"/>
            <a:ext cx="2359185" cy="1263489"/>
          </a:xfrm>
          <a:prstGeom prst="roundRect">
            <a:avLst>
              <a:gd name="adj" fmla="val 3478"/>
            </a:avLst>
          </a:prstGeom>
          <a:solidFill>
            <a:srgbClr val="F7F9F5"/>
          </a:solidFill>
          <a:ln/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652EB5F7-56B9-FD6F-1D7E-2DA5F7DDD98E}"/>
              </a:ext>
            </a:extLst>
          </p:cNvPr>
          <p:cNvSpPr/>
          <p:nvPr/>
        </p:nvSpPr>
        <p:spPr>
          <a:xfrm>
            <a:off x="3345515" y="2316372"/>
            <a:ext cx="2359185" cy="1263489"/>
          </a:xfrm>
          <a:prstGeom prst="roundRect">
            <a:avLst>
              <a:gd name="adj" fmla="val 3478"/>
            </a:avLst>
          </a:prstGeom>
          <a:solidFill>
            <a:srgbClr val="F7F9F5"/>
          </a:solidFill>
          <a:ln/>
        </p:spPr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FCC0909-1715-2401-33AF-5D0CD25C63B0}"/>
              </a:ext>
            </a:extLst>
          </p:cNvPr>
          <p:cNvSpPr/>
          <p:nvPr/>
        </p:nvSpPr>
        <p:spPr>
          <a:xfrm>
            <a:off x="6422432" y="2316372"/>
            <a:ext cx="2359185" cy="1263489"/>
          </a:xfrm>
          <a:prstGeom prst="roundRect">
            <a:avLst>
              <a:gd name="adj" fmla="val 3478"/>
            </a:avLst>
          </a:prstGeom>
          <a:solidFill>
            <a:srgbClr val="F7F9F5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C66A3B-923C-1FC9-21B5-C078188F80E9}"/>
              </a:ext>
            </a:extLst>
          </p:cNvPr>
          <p:cNvSpPr txBox="1"/>
          <p:nvPr/>
        </p:nvSpPr>
        <p:spPr>
          <a:xfrm>
            <a:off x="611560" y="2598945"/>
            <a:ext cx="14029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6CB640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&lt; 1 </a:t>
            </a:r>
            <a:r>
              <a:rPr lang="en-US" sz="2800" b="1" dirty="0" err="1">
                <a:solidFill>
                  <a:srgbClr val="6CB640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сек</a:t>
            </a:r>
            <a:endParaRPr lang="en-US" sz="2800" b="1" dirty="0">
              <a:latin typeface="Acrom" pitchFamily="2" charset="0"/>
            </a:endParaRPr>
          </a:p>
          <a:p>
            <a:endParaRPr lang="ru-US" sz="2800" b="1" dirty="0">
              <a:latin typeface="Acro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B2761-B027-D4F4-C473-06C046E4DB57}"/>
              </a:ext>
            </a:extLst>
          </p:cNvPr>
          <p:cNvSpPr txBox="1"/>
          <p:nvPr/>
        </p:nvSpPr>
        <p:spPr>
          <a:xfrm>
            <a:off x="3434418" y="2625754"/>
            <a:ext cx="2234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6CB640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30–60 </a:t>
            </a:r>
            <a:r>
              <a:rPr lang="en-US" sz="2800" b="1" dirty="0" err="1">
                <a:solidFill>
                  <a:srgbClr val="6CB640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сек</a:t>
            </a:r>
            <a:endParaRPr lang="en-US" sz="2800" dirty="0">
              <a:latin typeface="Acrom" pitchFamily="2" charset="0"/>
            </a:endParaRPr>
          </a:p>
          <a:p>
            <a:endParaRPr lang="ru-US" sz="2800" dirty="0">
              <a:latin typeface="Acrom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E46A57-26F0-08F1-09A0-CC23E260898F}"/>
              </a:ext>
            </a:extLst>
          </p:cNvPr>
          <p:cNvSpPr txBox="1"/>
          <p:nvPr/>
        </p:nvSpPr>
        <p:spPr>
          <a:xfrm>
            <a:off x="6771508" y="2598945"/>
            <a:ext cx="16610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6CB640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2–7 </a:t>
            </a:r>
            <a:r>
              <a:rPr lang="en-US" sz="2800" b="1" dirty="0" err="1">
                <a:solidFill>
                  <a:srgbClr val="6CB640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мин</a:t>
            </a:r>
            <a:endParaRPr lang="en-US" sz="2800" dirty="0">
              <a:latin typeface="Acrom" pitchFamily="2" charset="0"/>
            </a:endParaRPr>
          </a:p>
          <a:p>
            <a:endParaRPr lang="ru-US" sz="2800" dirty="0">
              <a:latin typeface="Acrom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2B139B-71B8-D9C4-7C80-DB42FE72285A}"/>
              </a:ext>
            </a:extLst>
          </p:cNvPr>
          <p:cNvSpPr txBox="1"/>
          <p:nvPr/>
        </p:nvSpPr>
        <p:spPr>
          <a:xfrm>
            <a:off x="550418" y="3042375"/>
            <a:ext cx="1822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Логический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HermiT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DC748D-D03B-AE62-A133-56756E6B808C}"/>
              </a:ext>
            </a:extLst>
          </p:cNvPr>
          <p:cNvSpPr txBox="1"/>
          <p:nvPr/>
        </p:nvSpPr>
        <p:spPr>
          <a:xfrm>
            <a:off x="3957139" y="3042375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DOCX / TXT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455BF5-FF8A-611F-B1E3-CC5875A59C96}"/>
              </a:ext>
            </a:extLst>
          </p:cNvPr>
          <p:cNvSpPr txBox="1"/>
          <p:nvPr/>
        </p:nvSpPr>
        <p:spPr>
          <a:xfrm>
            <a:off x="6894104" y="3025023"/>
            <a:ext cx="1494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Сканированный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PDF (OCR)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  <a:p>
            <a:endParaRPr lang="ru-US" sz="1200" dirty="0">
              <a:solidFill>
                <a:schemeClr val="tx1">
                  <a:lumMod val="50000"/>
                  <a:lumOff val="50000"/>
                </a:schemeClr>
              </a:solidFill>
              <a:latin typeface="Acrom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9608A6-E9C7-111B-281A-C8241A55E6E5}"/>
              </a:ext>
            </a:extLst>
          </p:cNvPr>
          <p:cNvSpPr txBox="1"/>
          <p:nvPr/>
        </p:nvSpPr>
        <p:spPr>
          <a:xfrm>
            <a:off x="238214" y="3728100"/>
            <a:ext cx="7920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Ограничение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бесплатных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LLM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возможны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ложные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срабатывания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по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отдельным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полям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требуется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более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мощная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модель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или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доработка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промптов</a:t>
            </a:r>
            <a:r>
              <a:rPr lang="en-US" sz="1400" dirty="0">
                <a:solidFill>
                  <a:srgbClr val="4A4A4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latin typeface="Acrom" pitchFamily="2" charset="0"/>
            </a:endParaRPr>
          </a:p>
          <a:p>
            <a:endParaRPr lang="ru-US" sz="1400" dirty="0">
              <a:latin typeface="Acrom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D557D9-A121-42BC-613D-D25B3AE3EA98}"/>
              </a:ext>
            </a:extLst>
          </p:cNvPr>
          <p:cNvSpPr txBox="1"/>
          <p:nvPr/>
        </p:nvSpPr>
        <p:spPr>
          <a:xfrm>
            <a:off x="8100392" y="47437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15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906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3D8F-796B-6FB7-0E59-68D19594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A74B5CB-354A-26BD-B611-AD382154FE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77BE382-0DDC-6482-2B7C-85A03F231C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8525" y="1268131"/>
            <a:ext cx="2636986" cy="383169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Основные результаты: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2C7CB-5355-6FF1-A331-30153988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7912B1-9878-8D9A-36EA-A559BAC019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63638"/>
            <a:ext cx="862586" cy="7467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3C1559-D501-2BA3-D254-4EA1EC271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321830"/>
            <a:ext cx="862586" cy="7467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438AAC-F171-DD61-865D-2A1CFF9D56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080022"/>
            <a:ext cx="862586" cy="7467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DD4B67-4F96-E23F-264C-8E84A015DFA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838214"/>
            <a:ext cx="862586" cy="746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1F6484-14F0-2A61-2ED2-D2298F0B5702}"/>
              </a:ext>
            </a:extLst>
          </p:cNvPr>
          <p:cNvSpPr txBox="1"/>
          <p:nvPr/>
        </p:nvSpPr>
        <p:spPr>
          <a:xfrm>
            <a:off x="1114106" y="1662730"/>
            <a:ext cx="75608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Подтверждена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практическая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применимость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OWL + HermiT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нормативного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контроля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вузе</a:t>
            </a:r>
            <a:endParaRPr lang="en-US" sz="1600" dirty="0">
              <a:latin typeface="Acrom" pitchFamily="2" charset="0"/>
            </a:endParaRP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550A1-EAFC-57DF-4B66-8B324E3A8E1F}"/>
              </a:ext>
            </a:extLst>
          </p:cNvPr>
          <p:cNvSpPr txBox="1"/>
          <p:nvPr/>
        </p:nvSpPr>
        <p:spPr>
          <a:xfrm>
            <a:off x="1114106" y="2417602"/>
            <a:ext cx="6986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Реализован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полный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цикл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текста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регламента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объяснимого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отчёта</a:t>
            </a:r>
            <a:endParaRPr lang="en-US" sz="1600" dirty="0">
              <a:latin typeface="Acrom" pitchFamily="2" charset="0"/>
            </a:endParaRP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2DA6D7-62D4-3242-0255-F1421BFD752E}"/>
              </a:ext>
            </a:extLst>
          </p:cNvPr>
          <p:cNvSpPr txBox="1"/>
          <p:nvPr/>
        </p:nvSpPr>
        <p:spPr>
          <a:xfrm>
            <a:off x="1114107" y="3186282"/>
            <a:ext cx="6986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Выявлены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ограничения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текущих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LLM и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направления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преодоления</a:t>
            </a:r>
            <a:endParaRPr lang="en-US" sz="1600" dirty="0">
              <a:latin typeface="Acrom" pitchFamily="2" charset="0"/>
            </a:endParaRPr>
          </a:p>
          <a:p>
            <a:endParaRPr lang="ru-US" sz="1600" dirty="0">
              <a:latin typeface="Acrom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0959B-1021-980E-1899-5B64741F9506}"/>
              </a:ext>
            </a:extLst>
          </p:cNvPr>
          <p:cNvSpPr txBox="1"/>
          <p:nvPr/>
        </p:nvSpPr>
        <p:spPr>
          <a:xfrm>
            <a:off x="1114106" y="3910377"/>
            <a:ext cx="6986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Создан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работоспособный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прототип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onto-practice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веб-интерфейсом</a:t>
            </a:r>
            <a:r>
              <a:rPr lang="en-US" sz="1600" dirty="0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600" dirty="0" err="1">
                <a:solidFill>
                  <a:srgbClr val="1A1A1A"/>
                </a:solidFill>
                <a:latin typeface="Acrom" pitchFamily="2" charset="0"/>
                <a:ea typeface="Calibri" pitchFamily="34" charset="-122"/>
                <a:cs typeface="Calibri" pitchFamily="34" charset="-120"/>
              </a:rPr>
              <a:t>документацией</a:t>
            </a:r>
            <a:endParaRPr lang="en-US" sz="1600" dirty="0">
              <a:latin typeface="Acrom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DF5A8-24E8-8DE4-C872-FDD1036872D1}"/>
              </a:ext>
            </a:extLst>
          </p:cNvPr>
          <p:cNvSpPr txBox="1"/>
          <p:nvPr/>
        </p:nvSpPr>
        <p:spPr>
          <a:xfrm>
            <a:off x="8107816" y="47579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latin typeface="Acrom" pitchFamily="2" charset="0"/>
              </a:rPr>
              <a:t>16</a:t>
            </a:r>
            <a:r>
              <a:rPr lang="en-US" sz="1800" dirty="0">
                <a:latin typeface="Acrom" pitchFamily="2" charset="0"/>
              </a:rPr>
              <a:t>/</a:t>
            </a:r>
            <a:r>
              <a:rPr lang="ru-RU" sz="1800" dirty="0">
                <a:latin typeface="Acrom" pitchFamily="2" charset="0"/>
              </a:rPr>
              <a:t>17</a:t>
            </a:r>
            <a:endParaRPr lang="ru-US" sz="1800" dirty="0"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307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563533"/>
            <a:ext cx="7749155" cy="707886"/>
          </a:xfrm>
        </p:spPr>
        <p:txBody>
          <a:bodyPr/>
          <a:lstStyle/>
          <a:p>
            <a:r>
              <a:rPr lang="ru-RU" sz="4000" dirty="0"/>
              <a:t>СПАСИБО ЗА ВНИМАНИЕ!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AEF02-F447-20E4-9EF2-6EBF3D13CB57}"/>
              </a:ext>
            </a:extLst>
          </p:cNvPr>
          <p:cNvSpPr txBox="1"/>
          <p:nvPr/>
        </p:nvSpPr>
        <p:spPr>
          <a:xfrm>
            <a:off x="8172400" y="47741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S" dirty="0">
                <a:solidFill>
                  <a:schemeClr val="bg1"/>
                </a:solidFill>
                <a:latin typeface="Acrom" pitchFamily="2" charset="0"/>
              </a:rPr>
              <a:t>17</a:t>
            </a:r>
            <a:r>
              <a:rPr lang="en-US" sz="1800" dirty="0">
                <a:solidFill>
                  <a:schemeClr val="bg1"/>
                </a:solidFill>
                <a:latin typeface="Acrom" pitchFamily="2" charset="0"/>
              </a:rPr>
              <a:t>/</a:t>
            </a:r>
            <a:r>
              <a:rPr lang="ru-RU" sz="1800" dirty="0">
                <a:solidFill>
                  <a:schemeClr val="bg1"/>
                </a:solidFill>
                <a:latin typeface="Acrom" pitchFamily="2" charset="0"/>
              </a:rPr>
              <a:t>17</a:t>
            </a:r>
            <a:endParaRPr lang="ru-US" sz="1800" dirty="0">
              <a:solidFill>
                <a:schemeClr val="bg1"/>
              </a:solidFill>
              <a:latin typeface="Acr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987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12455</TotalTime>
  <Words>877</Words>
  <Application>Microsoft Macintosh PowerPoint</Application>
  <PresentationFormat>Экран (16:9)</PresentationFormat>
  <Paragraphs>181</Paragraphs>
  <Slides>17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Acrom Bold</vt:lpstr>
      <vt:lpstr>Montserrat</vt:lpstr>
      <vt:lpstr>Acrom ExtraBold</vt:lpstr>
      <vt:lpstr>Acrom</vt:lpstr>
      <vt:lpstr>Calibri</vt:lpstr>
      <vt:lpstr>Тема Office</vt:lpstr>
      <vt:lpstr>ПРИМЕНЕНИЕ ОНТОЛОГИЧЕСКИХ МОДЕЛЕЙ И GPT ДЛЯ РАЗРАБОТКИ ЦИФРОВЫХ ДВОЙНИКОВ РЕГЛАМЕНТОВ</vt:lpstr>
      <vt:lpstr>ЦЕЛЬ И КЛЮЧЕВАЯ ИДЕЯ</vt:lpstr>
      <vt:lpstr>ТРИ КЛЮЧЕВЫЕ ТЕХНОЛОГИИ</vt:lpstr>
      <vt:lpstr>АКТУАЛЬНОСТЬ</vt:lpstr>
      <vt:lpstr>КОНТЕКСТ И ТРЕНДЫ</vt:lpstr>
      <vt:lpstr>ПОЧЕМУ ЦИФРОВОЙ ДВОЙНИК РЕГЛАМЕНТА</vt:lpstr>
      <vt:lpstr>ТЕХНОЛОГИЧЕСКИЙ ФУНДАМЕНТ</vt:lpstr>
      <vt:lpstr>АНАЛОГИ И СУЩЕСТВУЮЩИЕ ПОДХОДЫ</vt:lpstr>
      <vt:lpstr>КЛЮЧЕВЫЕ ПРАВИЛА</vt:lpstr>
      <vt:lpstr>АРХИТЕКТУРА: ДВА ПАЙПЛАЙНА</vt:lpstr>
      <vt:lpstr>ЧТО РЕАЛИЗОВАНО</vt:lpstr>
      <vt:lpstr>ВЕБ-ИНТЕРФЕЙС</vt:lpstr>
      <vt:lpstr>ВЕБ-ИНТЕРФЕЙС</vt:lpstr>
      <vt:lpstr>ВЕБ-ИНТЕРФЕЙС</vt:lpstr>
      <vt:lpstr>ТЕСТИРОВАНИЕ И РЕЗУЛЬТАТЫ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Lada Avdonina</cp:lastModifiedBy>
  <cp:revision>720</cp:revision>
  <dcterms:created xsi:type="dcterms:W3CDTF">2016-08-15T04:55:12Z</dcterms:created>
  <dcterms:modified xsi:type="dcterms:W3CDTF">2026-09-05T15:39:34Z</dcterms:modified>
</cp:coreProperties>
</file>